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5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Kính chào Thầy và các bạn. Hôm nay Nhóm 7 xin đại diện báo cáo chuyên đề: Tìm hiểu về cấu hình Nghinx reverse proxy, phân tải Upstream và giải quyết các bài toán hạ tầng mạng thực tế trên dự án Luma Store.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mục lục tổng quan 5 phần của bài báo cáo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1: MỞ ĐẦU &amp; BỐI CẢNH DỰ ÁN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phát triển ứng dụng web hiện đại, việc tách riêng Frontend và Backend làm phát sinh 4 bài toán lớn: lỗi CORS kinh điển khi gọi khác port, một máy chủ backend duy nhất dễ bị sập khi đông người truy cập, các cổng nội bộ bị lộ ra ngoài Internet, và Node.js bị quá tải vì phải phục vụ file tĩnh. Cần có một giải pháp hạ tầng tập trung để xử lý toàn diện.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2: LÝ THUYẾT NỀN TẢNG MẠNG &amp; WEB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3: KIẾN TRÚC &amp; CẤU TRÚC FILE CẤU HÌNH NGINX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NGINX thống trị thế giới máy chủ nhờ giải quyết bài toán C10K. Thay vì tạo một tiến trình mới cho mỗi khách như Apache, NGINX dùng mô hình vòng lặp sự kiện bất đồng bộ, giúp một tiến trình đơn lẻ có thể phục vụ hàng vạn kết nối đồng thời mà tốn rất ít RAM.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File nginx.conf tổ chức theo dạng cây khối lồng nhau. Khối lớn nhất là HTTP bao bọc toàn bộ. Bên trong chứa các khối Server đại diện cho từng website. Trong Server lại có các khối Location quyết định URL nào đi về đâu.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làm chủ NGINX, chúng ta chỉ cần nắm vững 5 directive cốt lõi này. Trong đó proxy_pass và proxy_set_header là cặp bài trùng không thể thiếu khi xây dựng hệ thống Reverse Proxy.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4: DEMO THỰC CHIẾN TRÊN DỰ ÁN LUMA STORE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Ở bước đầu tiên, nhóm đóng gói bản build Frontend của Luma Store và đặt vào NGINX. NGINX đóng vai trò Web Server thuần túy, trả về HTML/CSS/JS tĩnh mà không cần chạy qua bất kỳ runtime nặng nề nào như Node.js.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Như các bạn thấy trên màn hình, trang chủ Luma Store đã load mượt mà. Nhìn vào Network tab, header Server trả về là NGINX, chứng minh NGINX đang trực tiếp phục vụ tài nguyên tĩnh.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Frontend bắt đầu gọi API lấy danh sách sản phẩm ở port 3000, thảm họa xảy ra: Trình duyệt chặn đứng vì vi phạm chính sách Same-Origin Policy. Đây là lỗi kinh điển mà mọi lập trình viên đều từng đau đầu.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Thay vì sửa code backend thêm các cấu hình CORS lằng nhằng, ta đặt NGINX làm Reverse Proxy tại port 80. Mọi request /api/ đều được NGINX âm thầm chuyển tiếp tới backend 3000. Với trình duyệt, tất cả đều chung port 80, bài toán CORS được giải quyết triệt để từ tầng hạ tầng.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đứng sau proxy, backend sẽ tưởng nhầm tất cả request đều đến từ NGINX. Ta phải dùng proxy_set_header để NGINX gắn thẻ IP thật của người dùng vào header X-Real-IP, giúp backend biết chính xác ai đang gọi đến.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Trong thực tế, không ai dám chạy một backend duy nhất cho một trang thương mại điện tử. Nếu nó sập, khách hàng sẽ bỏ đi. Ta cần nhân bản thành nhiều node backend và dùng khối Upstream của NGINX để gom chúng lại thành một khối thống nhất.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Cấu hình Upstream cực kỳ tinh gọn. Mặc định NGINX dùng thuật toán Round Robin chia bài 50-50. Nếu máy 1 mạnh hơn máy 2, ta chỉ cần gắn thêm trọng số weight để NGINX ưu tiên dồn tải vào máy mạnh hơn.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Đây là minh chứng thực tế: Khi nhóm gửi liên tục các request từ giao diện, hai cửa sổ terminal của Node 3001 và Node 3002 lần lượt sáng đèn xử lý xen kẽ. Tải đã được phân bổ đều đặn và hoàn toàn tự động.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chuyển hệ thống lên Docker, các bạn tuyệt đối không dùng localhost nữa vì mỗi container là một thế giới riêng. Nhờ Docker Bridge Network và cơ chế DNS nội bộ, NGINX chỉ cần gọi thẳng tên service như 'http://backend1:3000', Docker sẽ tự phân giải IP nội bộ tương ứng.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tính năng tự vệ mặc định rất hay của NGINX là chặn mọi file lớn hơn 1MB và ném ra lỗi 413. Khi làm web bán hàng cần upload ảnh sản phẩm chất lượng cao, ta phải cấu hình nới lỏng directive client_max_body_size lên 50MB.</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hệ thống mang dáng dấp môi trường doanh nghiệp, nhóm gắn tên miền ảo luma-store.local vào file hosts. Giờ đây toàn bộ dự án đã có thể truy cập qua tên miền riêng biệt một cách chuyên nghiệp.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Cuối cùng, nhóm thiết lập giao thức mã hóa HTTPS bằng chứng chỉ tự ký OpenSSL. Trình duyệt hiện cảnh báo Not Secure chính là bằng chứng xác nhận lý thuyết Chain of Trust đã học: vì ta tự ký nên thiếu chứng thực của Root CA. Trên môi trường thực tế, ta chỉ cần gắn domain thật và chạy Certbot là trang web sẽ có ổ khóa xanh uy tín.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5: TỔNG KẾT &amp; ĐÁNH GIÁ KIẾN TRÚC</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Nhìn lại bức tranh tổng thể, NGINX đã giải quyết xuất sắc tất cả bài toán hạ tầng: vừa là lớp giáp bảo vệ HTTPS, vừa là máy chủ tĩnh tốc độ cao, vừa điều phối tải thông minh cho nhiều node backend bên dưới.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Bảng tổng hợp này thể hiện rõ bước nhảy vọt của hệ thống trước và sau khi áp dụng NGINX: từ một ứng dụng dễ sập, lộ cổng và lỗi CORS trở thành một kiến trúc máy chủ chuẩn mực, bảo mật và chịu tải cao.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trình bày của Nhóm 7 về cấu hình NGINX Reverse Proxy đến đây xin được khép lại. Nhóm xin trân trọng cảm ơn Thầy và các bạn đã chú ý theo dõi. Rất mong nhận được những nhận xét và câu hỏi phản biện từ Thầy ạ!</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hyperlink" Target="https://topdev.vn/" TargetMode="Externa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0000" y="2600000"/>
            <a:ext cx="10191365" cy="553720"/>
          </a:xfrm>
          <a:prstGeom prst="rect">
            <a:avLst/>
          </a:prstGeom>
          <a:noFill/>
        </p:spPr>
        <p:txBody>
          <a:bodyPr wrap="square" lIns="0" tIns="0" rIns="0" bIns="0">
            <a:spAutoFit/>
          </a:bodyPr>
          <a:lstStyle/>
          <a:p>
            <a:pPr algn="ctr">
              <a:defRPr sz="3600" b="1">
                <a:solidFill>
                  <a:srgbClr val="880C10"/>
                </a:solidFill>
                <a:latin typeface="Segoe UI" panose="020B0502040204020203"/>
              </a:defRPr>
            </a:pPr>
            <a:r>
              <a:t>Tìm hiểu về cấu hình </a:t>
            </a:r>
            <a:r>
              <a:rPr lang="en-US" altLang="vi-VN"/>
              <a:t>NGINX</a:t>
            </a:r>
            <a:r>
              <a:t> reverse proxy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Mục lục nội dung báo cáo</a:t>
            </a:r>
          </a:p>
        </p:txBody>
      </p:sp>
      <p:sp>
        <p:nvSpPr>
          <p:cNvPr id="9" name="TextBox 8"/>
          <p:cNvSpPr txBox="1"/>
          <p:nvPr/>
        </p:nvSpPr>
        <p:spPr>
          <a:xfrm>
            <a:off x="1000000" y="1350000"/>
            <a:ext cx="10191365" cy="4700000"/>
          </a:xfrm>
          <a:prstGeom prst="rect">
            <a:avLst/>
          </a:prstGeom>
          <a:noFill/>
        </p:spPr>
        <p:txBody>
          <a:bodyPr wrap="square" lIns="0" tIns="0" rIns="0" bIns="0">
            <a:spAutoFit/>
          </a:bodyPr>
          <a:lstStyle/>
          <a:p>
            <a:pPr>
              <a:spcBef>
                <a:spcPts val="800"/>
              </a:spcBef>
              <a:spcAft>
                <a:spcPts val="1200"/>
              </a:spcAft>
            </a:pPr>
            <a:r>
              <a:rPr sz="1600" b="1">
                <a:solidFill>
                  <a:srgbClr val="1F242E"/>
                </a:solidFill>
                <a:latin typeface="Segoe UI" panose="020B0502040204020203"/>
              </a:rPr>
              <a:t>•  PHẦN 1: MỞ ĐẦU &amp; BỐI CẢNH DỰ ÁN
</a:t>
            </a:r>
            <a:r>
              <a:rPr sz="1300">
                <a:solidFill>
                  <a:srgbClr val="475569"/>
                </a:solidFill>
                <a:latin typeface="Segoe UI" panose="020B0502040204020203"/>
              </a:rPr>
              <a:t>        ▸  Bài toán thực tế &amp; Đặt vấn đề kiến trúc SPA/Microservices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2: LÝ THUYẾT NỀN TẢNG MẠNG &amp; WEB
</a:t>
            </a:r>
            <a:r>
              <a:rPr sz="1300">
                <a:solidFill>
                  <a:srgbClr val="475569"/>
                </a:solidFill>
                <a:latin typeface="Segoe UI" panose="020B0502040204020203"/>
              </a:rPr>
              <a:t>        ▸  Web Server, Reverse Proxy, IP, Port, DNS, File hosts, SSL/TLS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3: KIẾN TRÚC &amp; CẤU TRÚC FILE CẤU HÌNH NGINX
</a:t>
            </a:r>
            <a:r>
              <a:rPr sz="1300">
                <a:solidFill>
                  <a:srgbClr val="475569"/>
                </a:solidFill>
                <a:latin typeface="Segoe UI" panose="020B0502040204020203"/>
              </a:rPr>
              <a:t>        ▸  Kiến trúc Event-Driven C10K, cú pháp phân cấp nginx.conf, directives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4: DEMO THỰC CHIẾN TRÊN DỰ ÁN LUMA STORE
</a:t>
            </a:r>
            <a:r>
              <a:rPr sz="1300">
                <a:solidFill>
                  <a:srgbClr val="475569"/>
                </a:solidFill>
                <a:latin typeface="Segoe UI" panose="020B0502040204020203"/>
              </a:rPr>
              <a:t>        ▸  Chuỗi 6 kịch bản: Web Server tĩnh, CORS, Upstream, Docker, SSL</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5: TỔNG KẾT &amp; ĐÁNH GIÁ KIẾN TRÚC
</a:t>
            </a:r>
            <a:r>
              <a:rPr sz="1300">
                <a:solidFill>
                  <a:srgbClr val="475569"/>
                </a:solidFill>
                <a:latin typeface="Segoe UI" panose="020B0502040204020203"/>
              </a:rPr>
              <a:t>        ▸  Ma trận so sánh Trước/Sau, tối ưu kiến trúc &amp; Phiên thảo luận Q&amp;A</a:t>
            </a:r>
            <a:endParaRPr sz="1300">
              <a:solidFill>
                <a:srgbClr val="475569"/>
              </a:solidFill>
              <a:latin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1: MỞ ĐẦU &amp; BỐI CẢNH DỰ ÁN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Bài toán thực tế &amp; Đặt vấn đề</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Tách biệt Frontend &amp; Backend:</a:t>
            </a:r>
            <a:r>
              <a:rPr sz="1800" b="0">
                <a:solidFill>
                  <a:srgbClr val="1F242E"/>
                </a:solidFill>
                <a:latin typeface="Segoe UI" panose="020B0502040204020203"/>
              </a:rPr>
              <a:t> Xu hướng kiến trúc SPA/Microservices hiện đại (React/Vue UI tách rời Node.js API).</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1 – Lỗi vi phạm CORS:</a:t>
            </a:r>
            <a:r>
              <a:rPr sz="1800" b="0">
                <a:solidFill>
                  <a:srgbClr val="1F242E"/>
                </a:solidFill>
                <a:latin typeface="Segoe UI" panose="020B0502040204020203"/>
              </a:rPr>
              <a:t> Khác Port (</a:t>
            </a:r>
            <a:r>
              <a:rPr sz="1800" b="1">
                <a:solidFill>
                  <a:srgbClr val="1F242E"/>
                </a:solidFill>
                <a:latin typeface="Segoe UI" panose="020B0502040204020203"/>
              </a:rPr>
              <a:t>80</a:t>
            </a:r>
            <a:r>
              <a:rPr sz="1800" b="0">
                <a:solidFill>
                  <a:srgbClr val="1F242E"/>
                </a:solidFill>
                <a:latin typeface="Segoe UI" panose="020B0502040204020203"/>
              </a:rPr>
              <a:t> != </a:t>
            </a:r>
            <a:r>
              <a:rPr sz="1800" b="1">
                <a:solidFill>
                  <a:srgbClr val="1F242E"/>
                </a:solidFill>
                <a:latin typeface="Segoe UI" panose="020B0502040204020203"/>
              </a:rPr>
              <a:t>3000</a:t>
            </a:r>
            <a:r>
              <a:rPr sz="1800" b="0">
                <a:solidFill>
                  <a:srgbClr val="1F242E"/>
                </a:solidFill>
                <a:latin typeface="Segoe UI" panose="020B0502040204020203"/>
              </a:rPr>
              <a:t>), trình duyệt kích hoạt Same-Origin Policy và chặn đứng gọi API.</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2 – Điểm nghẽn cổ chai (Bottleneck):</a:t>
            </a:r>
            <a:r>
              <a:rPr sz="1800" b="0">
                <a:solidFill>
                  <a:srgbClr val="1F242E"/>
                </a:solidFill>
                <a:latin typeface="Segoe UI" panose="020B0502040204020203"/>
              </a:rPr>
              <a:t> Một Backend duy nhất không gánh nổi tải lớn; nguy cơ sập toàn hệ thống (Single Point of Failure).</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3 – Lộ cổng nội bộ &amp; Kém an toàn:</a:t>
            </a:r>
            <a:r>
              <a:rPr sz="1800" b="0">
                <a:solidFill>
                  <a:srgbClr val="1F242E"/>
                </a:solidFill>
                <a:latin typeface="Segoe UI" panose="020B0502040204020203"/>
              </a:rPr>
              <a:t> Phơi bày trực tiếp cổng </a:t>
            </a:r>
            <a:r>
              <a:rPr sz="1800" b="1">
                <a:solidFill>
                  <a:srgbClr val="1F242E"/>
                </a:solidFill>
                <a:latin typeface="Segoe UI" panose="020B0502040204020203"/>
              </a:rPr>
              <a:t>3000</a:t>
            </a:r>
            <a:r>
              <a:rPr sz="1800" b="0">
                <a:solidFill>
                  <a:srgbClr val="1F242E"/>
                </a:solidFill>
                <a:latin typeface="Segoe UI" panose="020B0502040204020203"/>
              </a:rPr>
              <a:t>, </a:t>
            </a:r>
            <a:r>
              <a:rPr sz="1800" b="1">
                <a:solidFill>
                  <a:srgbClr val="1F242E"/>
                </a:solidFill>
                <a:latin typeface="Segoe UI" panose="020B0502040204020203"/>
              </a:rPr>
              <a:t>3001</a:t>
            </a:r>
            <a:r>
              <a:rPr sz="1800" b="0">
                <a:solidFill>
                  <a:srgbClr val="1F242E"/>
                </a:solidFill>
                <a:latin typeface="Segoe UI" panose="020B0502040204020203"/>
              </a:rPr>
              <a:t> ra Internet; thiếu lớp phòng thủ và mã hóa SSL tập trung.</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4 – Lãng phí tài nguyên Node.js:</a:t>
            </a:r>
            <a:r>
              <a:rPr sz="1800" b="0">
                <a:solidFill>
                  <a:srgbClr val="1F242E"/>
                </a:solidFill>
                <a:latin typeface="Segoe UI" panose="020B0502040204020203"/>
              </a:rPr>
              <a:t> Backend phải xử lý thêm file tĩnh (HTML</a:t>
            </a:r>
            <a:r>
              <a:rPr sz="1800" b="1">
                <a:solidFill>
                  <a:srgbClr val="1F242E"/>
                </a:solidFill>
                <a:latin typeface="Segoe UI" panose="020B0502040204020203"/>
              </a:rPr>
              <a:t>/CSS/</a:t>
            </a:r>
            <a:r>
              <a:rPr sz="1800" b="0">
                <a:solidFill>
                  <a:srgbClr val="1F242E"/>
                </a:solidFill>
                <a:latin typeface="Segoe UI" panose="020B0502040204020203"/>
              </a:rPr>
              <a:t>JS) làm chậm Event Loop xử lý nghiệp vụ nặng.</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Mục tiêu đặt ra:</a:t>
            </a:r>
            <a:r>
              <a:rPr sz="1800" b="0">
                <a:solidFill>
                  <a:srgbClr val="1F242E"/>
                </a:solidFill>
                <a:latin typeface="Segoe UI" panose="020B0502040204020203"/>
              </a:rPr>
              <a:t> Cần một tầng trung gian đóng vai trò Cửa ngõ (Gateway) thống nhất để vừa phát file tĩnh siêu tốc, vừa chia tải và triệt tiêu CORS.</a:t>
            </a:r>
            <a:endParaRPr sz="1800" b="0">
              <a:solidFill>
                <a:srgbClr val="1F242E"/>
              </a:solidFill>
              <a:latin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2: LÝ THUYẾT NỀN TẢNG MẠNG &amp; WEB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2"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3"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UCE_URL"/>
          <p:cNvSpPr txBox="1"/>
          <p:nvPr/>
        </p:nvSpPr>
        <p:spPr>
          <a:xfrm>
            <a:off x="4114800" y="6419088"/>
            <a:ext cx="3962095" cy="146050"/>
          </a:xfrm>
          <a:prstGeom prst="rect">
            <a:avLst/>
          </a:prstGeom>
          <a:noFill/>
        </p:spPr>
        <p:txBody>
          <a:bodyPr wrap="square" lIns="0" tIns="0" rIns="0" bIns="0">
            <a:spAutoFit/>
          </a:bodyPr>
          <a:lstStyle/>
          <a:p>
            <a:pPr algn="ctr">
              <a:defRPr sz="950">
                <a:solidFill>
                  <a:srgbClr val="444444"/>
                </a:solidFill>
                <a:latin typeface="Segoe UI" panose="020B0502040204020203"/>
              </a:defRPr>
            </a:pPr>
            <a:endParaRPr sz="950">
              <a:latin typeface="Segoe UI" panose="020B0502040204020203"/>
            </a:endParaRPr>
          </a:p>
        </p:txBody>
      </p:sp>
      <p:sp>
        <p:nvSpPr>
          <p:cNvPr id="15"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Web Server </a:t>
            </a:r>
            <a:endParaRPr lang="en-US"/>
          </a:p>
        </p:txBody>
      </p:sp>
      <p:sp>
        <p:nvSpPr>
          <p:cNvPr id="3" name="Chỗ dành sẵn cho Nội dung 2"/>
          <p:cNvSpPr>
            <a:spLocks noGrp="1"/>
          </p:cNvSpPr>
          <p:nvPr>
            <p:ph idx="1"/>
          </p:nvPr>
        </p:nvSpPr>
        <p:spPr>
          <a:xfrm>
            <a:off x="880079" y="1514082"/>
            <a:ext cx="4552981" cy="3450613"/>
          </a:xfrm>
        </p:spPr>
        <p:txBody>
          <a:bodyPr/>
          <a:lstStyle/>
          <a:p>
            <a:r>
              <a:rPr lang="vi-VN" sz="1800">
                <a:latin typeface="Segoe UI" panose="020B0502040204020203"/>
              </a:rPr>
              <a:t>Web server là máy chủ cài đặt các chương trình phục vụ các ứng dụng web.</a:t>
            </a:r>
            <a:endParaRPr lang="vi-VN" sz="1800">
              <a:latin typeface="Segoe UI" panose="020B0502040204020203"/>
            </a:endParaRPr>
          </a:p>
          <a:p>
            <a:r>
              <a:rPr lang="vi-VN" sz="1800">
                <a:latin typeface="Segoe UI" panose="020B0502040204020203"/>
              </a:rPr>
              <a:t> Webserver </a:t>
            </a:r>
            <a:r>
              <a:rPr lang="vi-VN" sz="1800">
                <a:latin typeface="Segoe UI" panose="020B0502040204020203"/>
              </a:rPr>
              <a:t>có khả năng tiếp nhận request từ các trình duyệt web và gửi phản hồi đến client </a:t>
            </a:r>
            <a:r>
              <a:rPr lang="vi-VN" sz="1800">
                <a:latin typeface="Segoe UI" panose="020B0502040204020203"/>
              </a:rPr>
              <a:t>thông qua giao thức HTTP hoặc các giao thức khác. </a:t>
            </a:r>
            <a:endParaRPr lang="vi-VN" sz="1800">
              <a:latin typeface="Segoe UI" panose="020B0502040204020203"/>
            </a:endParaRPr>
          </a:p>
          <a:p>
            <a:endParaRPr lang="vi-VN" sz="1800">
              <a:latin typeface="Segoe UI" panose="020B0502040204020203"/>
            </a:endParaRPr>
          </a:p>
        </p:txBody>
      </p:sp>
      <p:pic>
        <p:nvPicPr>
          <p:cNvPr id="8" name="Hình ảnh 7"/>
          <p:cNvPicPr>
            <a:picLocks noChangeAspect="1"/>
          </p:cNvPicPr>
          <p:nvPr/>
        </p:nvPicPr>
        <p:blipFill>
          <a:blip r:embed="rId2"/>
          <a:stretch>
            <a:fillRect/>
          </a:stretch>
        </p:blipFill>
        <p:spPr>
          <a:xfrm>
            <a:off x="6573906" y="2637711"/>
            <a:ext cx="4480948" cy="18060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0"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1"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UCE_URL"/>
          <p:cNvSpPr txBox="1"/>
          <p:nvPr/>
        </p:nvSpPr>
        <p:spPr>
          <a:xfrm>
            <a:off x="4114800" y="6419088"/>
            <a:ext cx="3962095" cy="146050"/>
          </a:xfrm>
          <a:prstGeom prst="rect">
            <a:avLst/>
          </a:prstGeom>
          <a:noFill/>
        </p:spPr>
        <p:txBody>
          <a:bodyPr wrap="square" lIns="0" tIns="0" rIns="0" bIns="0">
            <a:spAutoFit/>
          </a:bodyPr>
          <a:lstStyle/>
          <a:p>
            <a:pPr algn="ctr">
              <a:defRPr sz="950">
                <a:solidFill>
                  <a:srgbClr val="444444"/>
                </a:solidFill>
                <a:latin typeface="Segoe UI" panose="020B0502040204020203"/>
              </a:defRPr>
            </a:pPr>
            <a:endParaRPr sz="950">
              <a:latin typeface="Segoe UI" panose="020B0502040204020203"/>
            </a:endParaRPr>
          </a:p>
        </p:txBody>
      </p:sp>
      <p:sp>
        <p:nvSpPr>
          <p:cNvPr id="13" name="HUCE_Slide_Number"/>
          <p:cNvSpPr txBox="1"/>
          <p:nvPr/>
        </p:nvSpPr>
        <p:spPr>
          <a:xfrm>
            <a:off x="11604625"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Web Server </a:t>
            </a:r>
            <a:endParaRPr lang="en-US"/>
          </a:p>
        </p:txBody>
      </p:sp>
      <p:sp>
        <p:nvSpPr>
          <p:cNvPr id="3" name="Chỗ dành sẵn cho Nội dung 2"/>
          <p:cNvSpPr>
            <a:spLocks noGrp="1"/>
          </p:cNvSpPr>
          <p:nvPr>
            <p:ph idx="1"/>
          </p:nvPr>
        </p:nvSpPr>
        <p:spPr>
          <a:xfrm>
            <a:off x="709899" y="2365954"/>
            <a:ext cx="5568981" cy="1926348"/>
          </a:xfrm>
        </p:spPr>
        <p:txBody>
          <a:bodyPr/>
          <a:lstStyle/>
          <a:p>
            <a:r>
              <a:rPr lang="vi-VN" sz="1800">
                <a:latin typeface="Segoe UI" panose="020B0502040204020203"/>
              </a:rPr>
              <a:t>Có nhiều web server khác nhau như: Apache, Nghinx, IIS, … </a:t>
            </a:r>
            <a:endParaRPr lang="vi-VN" sz="1800">
              <a:latin typeface="Segoe UI" panose="020B0502040204020203"/>
            </a:endParaRPr>
          </a:p>
          <a:p>
            <a:r>
              <a:rPr lang="vi-VN" sz="1800">
                <a:latin typeface="Segoe UI" panose="020B0502040204020203"/>
              </a:rPr>
              <a:t>Các Web server thông dụng nhất hiện nay</a:t>
            </a:r>
            <a:endParaRPr lang="vi-VN" sz="1800">
              <a:latin typeface="Segoe UI" panose="020B0502040204020203"/>
            </a:endParaRPr>
          </a:p>
        </p:txBody>
      </p:sp>
      <p:pic>
        <p:nvPicPr>
          <p:cNvPr id="5" name="Hình ảnh 4"/>
          <p:cNvPicPr>
            <a:picLocks noChangeAspect="1"/>
          </p:cNvPicPr>
          <p:nvPr/>
        </p:nvPicPr>
        <p:blipFill>
          <a:blip r:embed="rId2"/>
          <a:stretch>
            <a:fillRect/>
          </a:stretch>
        </p:blipFill>
        <p:spPr>
          <a:xfrm>
            <a:off x="7045696" y="1930722"/>
            <a:ext cx="3774704" cy="4002554"/>
          </a:xfrm>
          <a:prstGeom prst="rect">
            <a:avLst/>
          </a:prstGeom>
        </p:spPr>
      </p:pic>
      <p:sp>
        <p:nvSpPr>
          <p:cNvPr id="6" name="Mũi tên: Phải 5"/>
          <p:cNvSpPr/>
          <p:nvPr/>
        </p:nvSpPr>
        <p:spPr>
          <a:xfrm>
            <a:off x="6024880" y="3119120"/>
            <a:ext cx="629920" cy="599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Cách hoạt động của Web Server </a:t>
            </a:r>
            <a:endParaRPr lang="en-US"/>
          </a:p>
        </p:txBody>
      </p:sp>
      <p:sp>
        <p:nvSpPr>
          <p:cNvPr id="3" name="Chỗ dành sẵn cho Nội dung 2"/>
          <p:cNvSpPr>
            <a:spLocks noGrp="1"/>
          </p:cNvSpPr>
          <p:nvPr>
            <p:ph idx="1"/>
          </p:nvPr>
        </p:nvSpPr>
        <p:spPr>
          <a:xfrm>
            <a:off x="781019" y="2465826"/>
            <a:ext cx="5568981" cy="1926348"/>
          </a:xfrm>
        </p:spPr>
        <p:txBody>
          <a:bodyPr>
            <a:noAutofit/>
          </a:bodyPr>
          <a:lstStyle/>
          <a:p>
            <a:r>
              <a:rPr lang="vi-VN" sz="1800">
                <a:latin typeface="Segoe UI" panose="020B0502040204020203"/>
              </a:rPr>
              <a:t>Bất cứ khi nào ta xem một trang web trên internet, có nghĩa là bạn đang yêu cầu trang đó từ một web server. </a:t>
            </a:r>
            <a:endParaRPr lang="vi-VN" sz="1800">
              <a:latin typeface="Segoe UI" panose="020B0502040204020203"/>
            </a:endParaRPr>
          </a:p>
          <a:p>
            <a:r>
              <a:rPr lang="vi-VN" sz="1800">
                <a:latin typeface="Segoe UI" panose="020B0502040204020203"/>
              </a:rPr>
              <a:t>Khi ta nhập URL trên trình duyệt của mình (ví dụ: </a:t>
            </a:r>
            <a:r>
              <a:rPr lang="vi-VN" sz="1800">
                <a:latin typeface="Segoe UI" panose="020B0502040204020203"/>
                <a:hlinkClick r:id="rId2"/>
              </a:rPr>
              <a:t>https://abcxyz.vn</a:t>
            </a:r>
            <a:r>
              <a:rPr lang="vi-VN" sz="1800">
                <a:latin typeface="Segoe UI" panose="020B0502040204020203"/>
              </a:rPr>
              <a:t>) nó sẽ tiến hành các bước sau để gửi lại phản hồi cho bạn.</a:t>
            </a:r>
            <a:endParaRPr lang="vi-VN" sz="1800">
              <a:latin typeface="Segoe UI" panose="020B0502040204020203"/>
            </a:endParaRPr>
          </a:p>
        </p:txBody>
      </p:sp>
      <p:pic>
        <p:nvPicPr>
          <p:cNvPr id="7" name="Hình ảnh 6"/>
          <p:cNvPicPr>
            <a:picLocks noChangeAspect="1"/>
          </p:cNvPicPr>
          <p:nvPr/>
        </p:nvPicPr>
        <p:blipFill>
          <a:blip r:embed="rId3"/>
          <a:stretch>
            <a:fillRect/>
          </a:stretch>
        </p:blipFill>
        <p:spPr>
          <a:xfrm>
            <a:off x="6862956" y="2164285"/>
            <a:ext cx="3530723" cy="34737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5"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6"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Cách hoạt động của Web Server </a:t>
            </a:r>
            <a:endParaRPr lang="en-US"/>
          </a:p>
        </p:txBody>
      </p:sp>
      <p:sp>
        <p:nvSpPr>
          <p:cNvPr id="3" name="Chỗ dành sẵn cho Nội dung 2"/>
          <p:cNvSpPr>
            <a:spLocks noGrp="1"/>
          </p:cNvSpPr>
          <p:nvPr>
            <p:ph idx="1"/>
          </p:nvPr>
        </p:nvSpPr>
        <p:spPr>
          <a:xfrm>
            <a:off x="7193280" y="1995145"/>
            <a:ext cx="4170804" cy="920775"/>
          </a:xfrm>
        </p:spPr>
        <p:txBody>
          <a:bodyPr>
            <a:normAutofit/>
          </a:bodyPr>
          <a:lstStyle/>
          <a:p>
            <a:pPr marL="0" indent="0">
              <a:buNone/>
            </a:pPr>
            <a:r>
              <a:rPr lang="en-US" sz="1800" b="1">
                <a:latin typeface="Segoe UI" panose="020B0502040204020203" pitchFamily="34" charset="0"/>
                <a:cs typeface="Arial" panose="020B0604020202020204" pitchFamily="34" charset="0"/>
              </a:rPr>
              <a:t>Trình duyệt phân giải tên miền thành địa chỉ IP</a:t>
            </a:r>
            <a:endParaRPr lang="en-US" sz="1800">
              <a:latin typeface="Arial" panose="020B0604020202020204" pitchFamily="34" charset="0"/>
              <a:cs typeface="Arial" panose="020B0604020202020204" pitchFamily="34" charset="0"/>
            </a:endParaRPr>
          </a:p>
          <a:p>
            <a:endParaRPr lang="en-US"/>
          </a:p>
        </p:txBody>
      </p:sp>
      <p:pic>
        <p:nvPicPr>
          <p:cNvPr id="7" name="Hình ảnh 6"/>
          <p:cNvPicPr>
            <a:picLocks noChangeAspect="1"/>
          </p:cNvPicPr>
          <p:nvPr/>
        </p:nvPicPr>
        <p:blipFill>
          <a:blip r:embed="rId2"/>
          <a:stretch>
            <a:fillRect/>
          </a:stretch>
        </p:blipFill>
        <p:spPr>
          <a:xfrm>
            <a:off x="827916" y="2184605"/>
            <a:ext cx="3530723" cy="3473776"/>
          </a:xfrm>
          <a:prstGeom prst="rect">
            <a:avLst/>
          </a:prstGeom>
        </p:spPr>
      </p:pic>
      <p:sp>
        <p:nvSpPr>
          <p:cNvPr id="4" name="Hình chữ nhật 3"/>
          <p:cNvSpPr/>
          <p:nvPr/>
        </p:nvSpPr>
        <p:spPr>
          <a:xfrm>
            <a:off x="5466080" y="2113280"/>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1</a:t>
            </a:r>
            <a:endParaRPr lang="en-US"/>
          </a:p>
        </p:txBody>
      </p:sp>
      <p:sp>
        <p:nvSpPr>
          <p:cNvPr id="5" name="Hình chữ nhật 4"/>
          <p:cNvSpPr/>
          <p:nvPr/>
        </p:nvSpPr>
        <p:spPr>
          <a:xfrm>
            <a:off x="5455920" y="3112254"/>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2</a:t>
            </a:r>
            <a:endParaRPr lang="en-US"/>
          </a:p>
        </p:txBody>
      </p:sp>
      <p:sp>
        <p:nvSpPr>
          <p:cNvPr id="8" name="Hộp Văn bản 7"/>
          <p:cNvSpPr txBox="1"/>
          <p:nvPr/>
        </p:nvSpPr>
        <p:spPr>
          <a:xfrm>
            <a:off x="7193280" y="3071614"/>
            <a:ext cx="6101080" cy="369332"/>
          </a:xfrm>
          <a:prstGeom prst="rect">
            <a:avLst/>
          </a:prstGeom>
          <a:noFill/>
        </p:spPr>
        <p:txBody>
          <a:bodyPr wrap="square">
            <a:spAutoFit/>
          </a:bodyPr>
          <a:lstStyle/>
          <a:p>
            <a:r>
              <a:rPr lang="vi-VN" b="1">
                <a:latin typeface="Segoe UI" panose="020B0502040204020203"/>
              </a:rPr>
              <a:t>Webserver gửi lại client Trang được yêu cầu</a:t>
            </a:r>
            <a:endParaRPr lang="en-US" b="1"/>
          </a:p>
        </p:txBody>
      </p:sp>
      <p:sp>
        <p:nvSpPr>
          <p:cNvPr id="9" name="Hình chữ nhật 8"/>
          <p:cNvSpPr/>
          <p:nvPr/>
        </p:nvSpPr>
        <p:spPr>
          <a:xfrm>
            <a:off x="5455920" y="4226561"/>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3</a:t>
            </a:r>
            <a:endParaRPr lang="en-US"/>
          </a:p>
        </p:txBody>
      </p:sp>
      <p:sp>
        <p:nvSpPr>
          <p:cNvPr id="11" name="Hộp Văn bản 10"/>
          <p:cNvSpPr txBox="1"/>
          <p:nvPr/>
        </p:nvSpPr>
        <p:spPr>
          <a:xfrm>
            <a:off x="7193280" y="4213653"/>
            <a:ext cx="6593840" cy="371255"/>
          </a:xfrm>
          <a:prstGeom prst="rect">
            <a:avLst/>
          </a:prstGeom>
          <a:noFill/>
        </p:spPr>
        <p:txBody>
          <a:bodyPr wrap="square">
            <a:spAutoFit/>
          </a:bodyPr>
          <a:lstStyle/>
          <a:p>
            <a:pPr algn="l">
              <a:lnSpc>
                <a:spcPts val="2250"/>
              </a:lnSpc>
              <a:spcBef>
                <a:spcPts val="2025"/>
              </a:spcBef>
              <a:spcAft>
                <a:spcPts val="1275"/>
              </a:spcAft>
              <a:buNone/>
            </a:pPr>
            <a:r>
              <a:rPr lang="en-US" b="1" i="0">
                <a:solidFill>
                  <a:srgbClr val="111111"/>
                </a:solidFill>
                <a:effectLst/>
                <a:latin typeface="Segoe UI" panose="020B0502040204020203" pitchFamily="34" charset="0"/>
              </a:rPr>
              <a:t>Trình duyệt </a:t>
            </a:r>
            <a:r>
              <a:rPr lang="vi-VN" b="1" i="0">
                <a:solidFill>
                  <a:srgbClr val="111111"/>
                </a:solidFill>
                <a:effectLst/>
                <a:latin typeface="Segoe UI" panose="020B0502040204020203" pitchFamily="34" charset="0"/>
              </a:rPr>
              <a:t>render và </a:t>
            </a:r>
            <a:r>
              <a:rPr lang="en-US" b="1" i="0">
                <a:solidFill>
                  <a:srgbClr val="111111"/>
                </a:solidFill>
                <a:effectLst/>
                <a:latin typeface="Segoe UI" panose="020B0502040204020203" pitchFamily="34" charset="0"/>
              </a:rPr>
              <a:t>hiển thị trang web</a:t>
            </a:r>
            <a:endParaRPr lang="en-US" b="0" i="0">
              <a:solidFill>
                <a:srgbClr val="111111"/>
              </a:solidFill>
              <a:effectLst/>
              <a:latin typeface="Roboto" panose="020000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URL"/>
          <p:cNvSpPr txBox="1"/>
          <p:nvPr/>
        </p:nvSpPr>
        <p:spPr>
          <a:xfrm>
            <a:off x="4114800" y="6419088"/>
            <a:ext cx="3962095" cy="146050"/>
          </a:xfrm>
          <a:prstGeom prst="rect">
            <a:avLst/>
          </a:prstGeom>
          <a:noFill/>
        </p:spPr>
        <p:txBody>
          <a:bodyPr wrap="square" lIns="0" tIns="0" rIns="0" bIns="0">
            <a:spAutoFit/>
          </a:bodyPr>
          <a:lstStyle/>
          <a:p>
            <a:pPr algn="ctr">
              <a:defRPr sz="950">
                <a:solidFill>
                  <a:srgbClr val="444444"/>
                </a:solidFill>
                <a:latin typeface="Segoe UI" panose="020B0502040204020203"/>
              </a:defRPr>
            </a:pPr>
            <a:endParaRPr sz="950">
              <a:latin typeface="Segoe UI" panose="020B0502040204020203"/>
            </a:endParaRPr>
          </a:p>
        </p:txBody>
      </p:sp>
      <p:sp>
        <p:nvSpPr>
          <p:cNvPr id="14"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Cách hoạt động của Web Server </a:t>
            </a:r>
            <a:endParaRPr lang="en-US"/>
          </a:p>
        </p:txBody>
      </p:sp>
      <p:sp>
        <p:nvSpPr>
          <p:cNvPr id="3" name="Chỗ dành sẵn cho Nội dung 2"/>
          <p:cNvSpPr>
            <a:spLocks noGrp="1"/>
          </p:cNvSpPr>
          <p:nvPr>
            <p:ph idx="1"/>
          </p:nvPr>
        </p:nvSpPr>
        <p:spPr>
          <a:xfrm>
            <a:off x="684235" y="2282946"/>
            <a:ext cx="6763045" cy="3193294"/>
          </a:xfrm>
        </p:spPr>
        <p:txBody>
          <a:bodyPr>
            <a:normAutofit/>
          </a:bodyPr>
          <a:lstStyle/>
          <a:p>
            <a:pPr marL="0" indent="0">
              <a:buNone/>
            </a:pPr>
            <a:r>
              <a:rPr lang="vi-VN" sz="1800" b="1">
                <a:latin typeface="Segoe UI" panose="020B0502040204020203"/>
              </a:rPr>
              <a:t>	</a:t>
            </a:r>
            <a:r>
              <a:rPr lang="en-US" sz="1800" b="1">
                <a:latin typeface="Segoe UI" panose="020B0502040204020203"/>
              </a:rPr>
              <a:t>Trình duyệt phân giải tên miền thành địa chỉ IP</a:t>
            </a:r>
            <a:endParaRPr lang="vi-VN" sz="1800" b="1">
              <a:latin typeface="ti"/>
            </a:endParaRPr>
          </a:p>
          <a:p>
            <a:pPr lvl="1"/>
            <a:r>
              <a:rPr lang="vi-VN" sz="1800">
                <a:latin typeface="Segoe UI" panose="020B0502040204020203"/>
              </a:rPr>
              <a:t>Trình duyệt web của bạn trước tiên cần phải xác định địa chỉ IP nào mà tên miền abcxyz.vn trỏ về. Trình duyệt sẽ yêu cầu thông tin từ một hoặc nhiều máy chủ DNS (thông qua internet). Máy chủ DNS sẽ cho trình duyệt biết địa chỉ IP nào tên miền sẽ trỏ đến cũng là nơi đặt trang web.</a:t>
            </a:r>
            <a:endParaRPr lang="vi-VN" sz="1800">
              <a:latin typeface="Segoe UI" panose="020B0502040204020203"/>
            </a:endParaRPr>
          </a:p>
          <a:p>
            <a:pPr lvl="1"/>
            <a:r>
              <a:rPr lang="vi-VN" sz="1800">
                <a:latin typeface="Segoe UI" panose="020B0502040204020203"/>
              </a:rPr>
              <a:t>Lúc này trình duyệt web đã biết địa chỉ IP của trang web, nó có thể yêu cầu URL đầy đủ từ webserver.</a:t>
            </a:r>
            <a:endParaRPr lang="vi-VN" sz="1800">
              <a:latin typeface="Segoe UI" panose="020B0502040204020203"/>
            </a:endParaRPr>
          </a:p>
          <a:p>
            <a:pPr lvl="1"/>
            <a:endParaRPr lang="vi-VN" sz="1800">
              <a:latin typeface="+mj-lt"/>
            </a:endParaRPr>
          </a:p>
        </p:txBody>
      </p:sp>
      <p:pic>
        <p:nvPicPr>
          <p:cNvPr id="7" name="Hình ảnh 6"/>
          <p:cNvPicPr>
            <a:picLocks noChangeAspect="1"/>
          </p:cNvPicPr>
          <p:nvPr/>
        </p:nvPicPr>
        <p:blipFill>
          <a:blip r:embed="rId2"/>
          <a:stretch>
            <a:fillRect/>
          </a:stretch>
        </p:blipFill>
        <p:spPr>
          <a:xfrm>
            <a:off x="7977042" y="2142705"/>
            <a:ext cx="3530723" cy="3473776"/>
          </a:xfrm>
          <a:prstGeom prst="rect">
            <a:avLst/>
          </a:prstGeom>
        </p:spPr>
      </p:pic>
      <p:sp>
        <p:nvSpPr>
          <p:cNvPr id="4" name="Hình chữ nhật 3"/>
          <p:cNvSpPr/>
          <p:nvPr/>
        </p:nvSpPr>
        <p:spPr>
          <a:xfrm>
            <a:off x="684698" y="1739386"/>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1</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4"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Cách hoạt động của Web Server </a:t>
            </a:r>
            <a:endParaRPr lang="en-US"/>
          </a:p>
        </p:txBody>
      </p:sp>
      <p:sp>
        <p:nvSpPr>
          <p:cNvPr id="3" name="Chỗ dành sẵn cho Nội dung 2"/>
          <p:cNvSpPr>
            <a:spLocks noGrp="1"/>
          </p:cNvSpPr>
          <p:nvPr>
            <p:ph idx="1"/>
          </p:nvPr>
        </p:nvSpPr>
        <p:spPr>
          <a:xfrm>
            <a:off x="783930" y="2506466"/>
            <a:ext cx="7292807" cy="3193294"/>
          </a:xfrm>
        </p:spPr>
        <p:txBody>
          <a:bodyPr>
            <a:normAutofit/>
          </a:bodyPr>
          <a:lstStyle/>
          <a:p>
            <a:pPr marL="457200" lvl="1" indent="0">
              <a:buNone/>
            </a:pPr>
            <a:r>
              <a:rPr lang="vi-VN" sz="1800">
                <a:latin typeface="Segoe UI" panose="020B0502040204020203"/>
              </a:rPr>
              <a:t>	Webserver gửi lại client Trang được yêu cầu</a:t>
            </a:r>
            <a:endParaRPr lang="vi-VN" sz="1800">
              <a:latin typeface="Segoe UI" panose="020B0502040204020203"/>
            </a:endParaRPr>
          </a:p>
          <a:p>
            <a:pPr marL="457200" lvl="1" indent="0">
              <a:buNone/>
            </a:pPr>
            <a:endParaRPr lang="vi-VN" sz="1800">
              <a:latin typeface="+mj-lt"/>
            </a:endParaRPr>
          </a:p>
          <a:p>
            <a:pPr lvl="1"/>
            <a:r>
              <a:rPr lang="en-US" sz="2000">
                <a:latin typeface="Segoe UI" panose="020B0502040204020203" pitchFamily="34" charset="0"/>
                <a:cs typeface="Times New Roman" panose="02020603050405020304" charset="0"/>
              </a:rPr>
              <a:t>Web server phản hồi bằng cách gửi lại những thông tin client yêu cầu… </a:t>
            </a:r>
            <a:endParaRPr lang="vi-VN" sz="2000">
              <a:latin typeface="Times New Roman" panose="02020603050405020304" charset="0"/>
              <a:cs typeface="Times New Roman" panose="02020603050405020304" charset="0"/>
            </a:endParaRPr>
          </a:p>
          <a:p>
            <a:pPr lvl="1"/>
            <a:r>
              <a:rPr lang="en-US" sz="2000">
                <a:latin typeface="Segoe UI" panose="020B0502040204020203" pitchFamily="34" charset="0"/>
                <a:cs typeface="Times New Roman" panose="02020603050405020304" charset="0"/>
              </a:rPr>
              <a:t>Nếu trang không tồn tại hoặc có lỗi khác xảy ra, nó sẽ gửi lại thông báo lỗi thích hợp.</a:t>
            </a:r>
            <a:endParaRPr lang="en-US" sz="2000">
              <a:latin typeface="Segoe UI" panose="020B0502040204020203" pitchFamily="34" charset="0"/>
              <a:cs typeface="Times New Roman" panose="02020603050405020304" charset="0"/>
            </a:endParaRPr>
          </a:p>
        </p:txBody>
      </p:sp>
      <p:pic>
        <p:nvPicPr>
          <p:cNvPr id="7" name="Hình ảnh 6"/>
          <p:cNvPicPr>
            <a:picLocks noChangeAspect="1"/>
          </p:cNvPicPr>
          <p:nvPr/>
        </p:nvPicPr>
        <p:blipFill>
          <a:blip r:embed="rId2"/>
          <a:stretch>
            <a:fillRect/>
          </a:stretch>
        </p:blipFill>
        <p:spPr>
          <a:xfrm>
            <a:off x="8332642" y="1853754"/>
            <a:ext cx="3530723" cy="3473776"/>
          </a:xfrm>
          <a:prstGeom prst="rect">
            <a:avLst/>
          </a:prstGeom>
        </p:spPr>
      </p:pic>
      <p:sp>
        <p:nvSpPr>
          <p:cNvPr id="4" name="Hình chữ nhật 3"/>
          <p:cNvSpPr/>
          <p:nvPr/>
        </p:nvSpPr>
        <p:spPr>
          <a:xfrm>
            <a:off x="496910" y="1545711"/>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2</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4"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Cách hoạt động của Web Server </a:t>
            </a:r>
            <a:endParaRPr lang="en-US"/>
          </a:p>
        </p:txBody>
      </p:sp>
      <p:sp>
        <p:nvSpPr>
          <p:cNvPr id="3" name="Chỗ dành sẵn cho Nội dung 2"/>
          <p:cNvSpPr>
            <a:spLocks noGrp="1"/>
          </p:cNvSpPr>
          <p:nvPr>
            <p:ph idx="1"/>
          </p:nvPr>
        </p:nvSpPr>
        <p:spPr>
          <a:xfrm>
            <a:off x="709635" y="2282946"/>
            <a:ext cx="6763045" cy="3193294"/>
          </a:xfrm>
        </p:spPr>
        <p:txBody>
          <a:bodyPr>
            <a:normAutofit/>
          </a:bodyPr>
          <a:lstStyle/>
          <a:p>
            <a:pPr marL="457200" lvl="1" indent="0">
              <a:buNone/>
            </a:pPr>
            <a:r>
              <a:rPr lang="vi-VN" sz="1800">
                <a:latin typeface="Segoe UI" panose="020B0502040204020203"/>
              </a:rPr>
              <a:t>		</a:t>
            </a:r>
            <a:r>
              <a:rPr lang="en-US" sz="1800">
                <a:latin typeface="Segoe UI" panose="020B0502040204020203" pitchFamily="34" charset="0"/>
                <a:cs typeface="Times New Roman" panose="02020603050405020304" charset="0"/>
              </a:rPr>
              <a:t>Trình duyệt hiển thị trang web</a:t>
            </a:r>
            <a:endParaRPr lang="vi-VN" sz="1800">
              <a:latin typeface="Times New Roman" panose="02020603050405020304" charset="0"/>
              <a:cs typeface="Times New Roman" panose="02020603050405020304" charset="0"/>
            </a:endParaRPr>
          </a:p>
          <a:p>
            <a:pPr lvl="1"/>
            <a:r>
              <a:rPr lang="vi-VN" sz="1800">
                <a:latin typeface="Segoe UI" panose="020B0502040204020203"/>
              </a:rPr>
              <a:t>Trình duyệt web  nhận lại được các tập tin html css (nhiều file khác)… và render hiển thị trang theo yêu cầu.</a:t>
            </a:r>
            <a:endParaRPr lang="vi-VN" sz="1800">
              <a:latin typeface="Segoe UI" panose="020B0502040204020203"/>
            </a:endParaRPr>
          </a:p>
        </p:txBody>
      </p:sp>
      <p:pic>
        <p:nvPicPr>
          <p:cNvPr id="7" name="Hình ảnh 6"/>
          <p:cNvPicPr>
            <a:picLocks noChangeAspect="1"/>
          </p:cNvPicPr>
          <p:nvPr/>
        </p:nvPicPr>
        <p:blipFill>
          <a:blip r:embed="rId2"/>
          <a:stretch>
            <a:fillRect/>
          </a:stretch>
        </p:blipFill>
        <p:spPr>
          <a:xfrm>
            <a:off x="7977042" y="2142705"/>
            <a:ext cx="3530723" cy="3473776"/>
          </a:xfrm>
          <a:prstGeom prst="rect">
            <a:avLst/>
          </a:prstGeom>
        </p:spPr>
      </p:pic>
      <p:sp>
        <p:nvSpPr>
          <p:cNvPr id="4" name="Hình chữ nhật 3"/>
          <p:cNvSpPr/>
          <p:nvPr/>
        </p:nvSpPr>
        <p:spPr>
          <a:xfrm>
            <a:off x="1125855" y="1715985"/>
            <a:ext cx="115824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Segoe UI" panose="020B0502040204020203"/>
              </a:rPr>
              <a:t>Bước 3</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4"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en-US" sz="2400" b="1">
                <a:solidFill>
                  <a:srgbClr val="FFFFFF"/>
                </a:solidFill>
                <a:latin typeface="Segoe UI" panose="020B0502040204020203" pitchFamily="34" charset="0"/>
                <a:cs typeface="Times New Roman" panose="02020603050405020304" charset="0"/>
              </a:rPr>
              <a:t>Reverse Proxy</a:t>
            </a:r>
            <a:endParaRPr lang="en-US" sz="2400" b="1">
              <a:solidFill>
                <a:srgbClr val="FFFFFF"/>
              </a:solidFill>
              <a:latin typeface="Segoe UI" panose="020B0502040204020203" pitchFamily="34" charset="0"/>
              <a:cs typeface="Times New Roman" panose="02020603050405020304" charset="0"/>
            </a:endParaRPr>
          </a:p>
        </p:txBody>
      </p:sp>
      <p:sp>
        <p:nvSpPr>
          <p:cNvPr id="3" name="Chỗ dành sẵn cho Nội dung 2"/>
          <p:cNvSpPr>
            <a:spLocks noGrp="1"/>
          </p:cNvSpPr>
          <p:nvPr>
            <p:ph idx="1"/>
          </p:nvPr>
        </p:nvSpPr>
        <p:spPr>
          <a:xfrm>
            <a:off x="1217899" y="2168133"/>
            <a:ext cx="9603275" cy="1743468"/>
          </a:xfrm>
        </p:spPr>
        <p:txBody>
          <a:bodyPr>
            <a:noAutofit/>
          </a:bodyPr>
          <a:lstStyle/>
          <a:p>
            <a:r>
              <a:rPr lang="vi-VN" sz="1800">
                <a:latin typeface="Segoe UI" panose="020B0502040204020203" pitchFamily="34" charset="0"/>
                <a:cs typeface="Times New Roman" panose="02020603050405020304" charset="0"/>
              </a:rPr>
              <a:t>Reverse proxy là máy chủ trung gian xử lý yêu cầu từ người dùng trước khi chuyển đến máy chủ đích, thuờng đặt phía trước một hoặc nhiều server khác (web server, API backend), nhận request từ client rồi chuyển tiếp đến server phía sau phù hợp.</a:t>
            </a:r>
            <a:endParaRPr lang="vi-VN" sz="1800">
              <a:latin typeface="Segoe UI" panose="020B0502040204020203" pitchFamily="34" charset="0"/>
              <a:cs typeface="Times New Roman" panose="02020603050405020304" charset="0"/>
            </a:endParaRPr>
          </a:p>
        </p:txBody>
      </p:sp>
      <p:pic>
        <p:nvPicPr>
          <p:cNvPr id="7" name="Hình ảnh 6"/>
          <p:cNvPicPr>
            <a:picLocks noChangeAspect="1"/>
          </p:cNvPicPr>
          <p:nvPr/>
        </p:nvPicPr>
        <p:blipFill>
          <a:blip r:embed="rId2"/>
          <a:stretch>
            <a:fillRect/>
          </a:stretch>
        </p:blipFill>
        <p:spPr>
          <a:xfrm>
            <a:off x="2422878" y="3429000"/>
            <a:ext cx="6975121" cy="252009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1"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2"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4"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pitchFamily="34" charset="0"/>
                <a:cs typeface="Times New Roman" panose="02020603050405020304" charset="0"/>
              </a:rPr>
              <a:t>Lợi ích của </a:t>
            </a:r>
            <a:r>
              <a:rPr lang="en-US" sz="2400" b="1">
                <a:solidFill>
                  <a:srgbClr val="FFFFFF"/>
                </a:solidFill>
                <a:latin typeface="Segoe UI" panose="020B0502040204020203" pitchFamily="34" charset="0"/>
                <a:cs typeface="Times New Roman" panose="02020603050405020304" charset="0"/>
              </a:rPr>
              <a:t>Reverse Proxy</a:t>
            </a:r>
            <a:endParaRPr lang="en-US" sz="2400" b="1">
              <a:solidFill>
                <a:srgbClr val="FFFFFF"/>
              </a:solidFill>
              <a:latin typeface="Segoe UI" panose="020B0502040204020203" pitchFamily="34" charset="0"/>
              <a:cs typeface="Times New Roman" panose="02020603050405020304" charset="0"/>
            </a:endParaRPr>
          </a:p>
        </p:txBody>
      </p:sp>
      <p:sp>
        <p:nvSpPr>
          <p:cNvPr id="3" name="Chỗ dành sẵn cho Nội dung 2"/>
          <p:cNvSpPr>
            <a:spLocks noGrp="1"/>
          </p:cNvSpPr>
          <p:nvPr>
            <p:ph idx="1"/>
          </p:nvPr>
        </p:nvSpPr>
        <p:spPr>
          <a:xfrm>
            <a:off x="1217899" y="2168133"/>
            <a:ext cx="9603275" cy="1743468"/>
          </a:xfrm>
        </p:spPr>
        <p:txBody>
          <a:bodyPr>
            <a:noAutofit/>
          </a:bodyPr>
          <a:lstStyle/>
          <a:p>
            <a:pPr marL="0" indent="0">
              <a:buNone/>
            </a:pPr>
            <a:r>
              <a:rPr lang="vi-VN" sz="1800">
                <a:latin typeface="Segoe UI" panose="020B0502040204020203"/>
              </a:rPr>
              <a:t>Reverse proxy tăng cường bảo mật (ẩn backend thật), cân bằng tải, cải thiện hiệu suất với bộ nhớ đệm, quản lý truy cập hiệu quả, xử lý mã hóa, và hỗ trợ định tuyến URL, giúp hệ thống web vận hành ổn định, an toàn và linh hoạt hơn.</a:t>
            </a:r>
            <a:endParaRPr lang="vi-VN" sz="1800">
              <a:latin typeface="Segoe UI" panose="020B0502040204020203"/>
              <a:cs typeface="Times New Roman" panose="02020603050405020304" charset="0"/>
            </a:endParaRPr>
          </a:p>
        </p:txBody>
      </p:sp>
      <p:pic>
        <p:nvPicPr>
          <p:cNvPr id="7" name="Hình ảnh 6"/>
          <p:cNvPicPr>
            <a:picLocks noChangeAspect="1"/>
          </p:cNvPicPr>
          <p:nvPr/>
        </p:nvPicPr>
        <p:blipFill>
          <a:blip r:embed="rId2"/>
          <a:stretch>
            <a:fillRect/>
          </a:stretch>
        </p:blipFill>
        <p:spPr>
          <a:xfrm>
            <a:off x="2422878" y="3429000"/>
            <a:ext cx="6975121" cy="25200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9"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0"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2"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Địa chỉ IP</a:t>
            </a:r>
            <a:endParaRPr lang="en-US"/>
          </a:p>
        </p:txBody>
      </p:sp>
      <p:sp>
        <p:nvSpPr>
          <p:cNvPr id="3" name="Chỗ dành sẵn cho Nội dung 2"/>
          <p:cNvSpPr>
            <a:spLocks noGrp="1"/>
          </p:cNvSpPr>
          <p:nvPr>
            <p:ph idx="1"/>
          </p:nvPr>
        </p:nvSpPr>
        <p:spPr>
          <a:xfrm>
            <a:off x="1451579" y="2166561"/>
            <a:ext cx="5015209" cy="3450613"/>
          </a:xfrm>
        </p:spPr>
        <p:txBody>
          <a:bodyPr>
            <a:noAutofit/>
          </a:bodyPr>
          <a:lstStyle/>
          <a:p>
            <a:r>
              <a:rPr lang="vi-VN" sz="1800">
                <a:latin typeface="Segoe UI" panose="020B0502040204020203"/>
              </a:rPr>
              <a:t>Là một chuỗi số đặc biệt dùng để nhận diện mỗi thiết bị điện tử như điện thoại, laptop khi chúng kết nối vào mạng Internet. </a:t>
            </a:r>
            <a:endParaRPr lang="vi-VN" sz="1800">
              <a:latin typeface="Segoe UI" panose="020B0502040204020203"/>
            </a:endParaRPr>
          </a:p>
          <a:p>
            <a:r>
              <a:rPr lang="vi-VN" sz="1800">
                <a:latin typeface="Segoe UI" panose="020B0502040204020203"/>
              </a:rPr>
              <a:t>Ví dụ : </a:t>
            </a:r>
            <a:r>
              <a:rPr lang="en-US" sz="1800" b="1">
                <a:latin typeface="Segoe UI" panose="020B0502040204020203"/>
              </a:rPr>
              <a:t>192.168.0.1</a:t>
            </a:r>
            <a:endParaRPr lang="en-US" sz="1800"/>
          </a:p>
          <a:p>
            <a:endParaRPr lang="vi-VN" sz="1800"/>
          </a:p>
          <a:p>
            <a:r>
              <a:rPr lang="vi-VN" sz="1800">
                <a:latin typeface="Segoe UI" panose="020B0502040204020203"/>
              </a:rPr>
              <a:t>Nói cách khác , IP chính là địa chỉ duy nhất của một thiết bị trên mạng ,không có địa chỉ IP, mọi kết nối trên Internet đều không thể diễn ra</a:t>
            </a:r>
            <a:endParaRPr lang="vi-VN" sz="1800">
              <a:latin typeface="Segoe UI" panose="020B0502040204020203"/>
            </a:endParaRPr>
          </a:p>
        </p:txBody>
      </p:sp>
      <p:pic>
        <p:nvPicPr>
          <p:cNvPr id="5" name="Hình ảnh 4"/>
          <p:cNvPicPr>
            <a:picLocks noChangeAspect="1"/>
          </p:cNvPicPr>
          <p:nvPr/>
        </p:nvPicPr>
        <p:blipFill>
          <a:blip r:embed="rId2"/>
          <a:stretch>
            <a:fillRect/>
          </a:stretch>
        </p:blipFill>
        <p:spPr>
          <a:xfrm>
            <a:off x="6739977" y="2092834"/>
            <a:ext cx="4779941" cy="321445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7"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8"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0"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Domain</a:t>
            </a:r>
            <a:endParaRPr lang="en-US"/>
          </a:p>
        </p:txBody>
      </p:sp>
      <p:sp>
        <p:nvSpPr>
          <p:cNvPr id="3" name="Chỗ dành sẵn cho Nội dung 2"/>
          <p:cNvSpPr>
            <a:spLocks noGrp="1"/>
          </p:cNvSpPr>
          <p:nvPr>
            <p:ph idx="1"/>
          </p:nvPr>
        </p:nvSpPr>
        <p:spPr/>
        <p:txBody>
          <a:bodyPr/>
          <a:lstStyle/>
          <a:p>
            <a:r>
              <a:rPr lang="vi-VN" sz="1800">
                <a:latin typeface="Segoe UI" panose="020B0502040204020203"/>
              </a:rPr>
              <a:t>domain (hay tên miền) là một chuỗi ký tự dễ nhớ được sử dụng để định danh một trang web hoặc một tài nguyên trực tuyến cụ thể trên Internet.Thay vì phải nhớ một dãy số IP phức tạp (ví dụ: 172.217.167.78), ta chỉ cần gõ một cái tên dễ nhớ như google.com vào trình duyệt. </a:t>
            </a:r>
            <a:endParaRPr lang="vi-VN" sz="1800">
              <a:latin typeface="Segoe UI" panose="020B0502040204020203"/>
            </a:endParaRPr>
          </a:p>
          <a:p>
            <a:r>
              <a:rPr lang="vi-VN" sz="1800">
                <a:latin typeface="Segoe UI" panose="020B0502040204020203"/>
              </a:rPr>
              <a:t>Domain chính là cái tên đó, giúp mọi người truy cập website của bạn một cách thuận tiện.</a:t>
            </a:r>
            <a:endParaRPr lang="vi-VN" sz="1800">
              <a:latin typeface="Segoe UI" panose="020B050204020402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7"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8"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0"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Port</a:t>
            </a:r>
            <a:endParaRPr lang="en-US"/>
          </a:p>
        </p:txBody>
      </p:sp>
      <p:sp>
        <p:nvSpPr>
          <p:cNvPr id="3" name="Chỗ dành sẵn cho Nội dung 2"/>
          <p:cNvSpPr>
            <a:spLocks noGrp="1"/>
          </p:cNvSpPr>
          <p:nvPr>
            <p:ph idx="1"/>
          </p:nvPr>
        </p:nvSpPr>
        <p:spPr/>
        <p:txBody>
          <a:bodyPr/>
          <a:lstStyle/>
          <a:p>
            <a:r>
              <a:rPr lang="vi-VN" sz="1800">
                <a:latin typeface="Segoe UI" panose="020B0502040204020203"/>
              </a:rPr>
              <a:t>Ports (cổng) là một khái niệm dùng để chỉ cổng truy cập để kết nối, lưu truyền dữ liệu giữa các thiết bị điện tử. Từ đó, các thiết bị hoặc phần mềm có thể giao tiếp với nhau giúp xác định luồng dữ liệu và đảm bảo thông tin được gửi đến đúng ứng dụng hoặc dịch vụ.</a:t>
            </a:r>
            <a:endParaRPr lang="vi-VN" sz="1800">
              <a:latin typeface="Segoe UI" panose="020B0502040204020203"/>
            </a:endParaRPr>
          </a:p>
          <a:p>
            <a:r>
              <a:rPr lang="vi-VN" sz="1800">
                <a:latin typeface="Segoe UI" panose="020B0502040204020203"/>
              </a:rPr>
              <a:t>Hiểu 1 cách đơn giản :  Ports là cổng giao tiếp mà các ứng dụng dùng để nhận/gửi dữ liệu (ví dụ: 80 cho HTTP, 443 cho HTTPS)</a:t>
            </a:r>
            <a:endParaRPr lang="vi-VN" sz="1800">
              <a:latin typeface="Segoe UI" panose="020B05020402040202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9"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030"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031"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033"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pic>
        <p:nvPicPr>
          <p:cNvPr id="1026" name="Picture 2" descr="[2025] TLS là gì? Tổng hợp các chức năng của giao thức T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0000" y="1400000"/>
            <a:ext cx="3900000" cy="2925000"/>
          </a:xfrm>
          <a:prstGeom prst="rect">
            <a:avLst/>
          </a:prstGeom>
          <a:noFill/>
          <a:extLst>
            <a:ext uri="{909E8E84-426E-40DD-AFC4-6F175D3DCCD1}">
              <a14:hiddenFill xmlns:a14="http://schemas.microsoft.com/office/drawing/2010/main">
                <a:solidFill>
                  <a:srgbClr val="FFFFFF"/>
                </a:solidFill>
              </a14:hiddenFill>
            </a:ext>
          </a:extLst>
        </p:spPr>
      </p:pic>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en-US" sz="2400" b="1">
                <a:solidFill>
                  <a:srgbClr val="FFFFFF"/>
                </a:solidFill>
                <a:latin typeface="Segoe UI" panose="020B0502040204020203"/>
              </a:rPr>
              <a:t>SSL/TLS</a:t>
            </a:r>
            <a:endParaRPr lang="en-US" sz="2400" b="1">
              <a:solidFill>
                <a:srgbClr val="FFFFFF"/>
              </a:solidFill>
              <a:latin typeface="Segoe UI" panose="020B0502040204020203"/>
            </a:endParaRPr>
          </a:p>
        </p:txBody>
      </p:sp>
      <p:sp>
        <p:nvSpPr>
          <p:cNvPr id="3" name="Chỗ dành sẵn cho Nội dung 2"/>
          <p:cNvSpPr>
            <a:spLocks noGrp="1"/>
          </p:cNvSpPr>
          <p:nvPr>
            <p:ph idx="1"/>
          </p:nvPr>
        </p:nvSpPr>
        <p:spPr>
          <a:xfrm>
            <a:off x="457200" y="1600200"/>
            <a:ext cx="7346315" cy="4526280"/>
          </a:xfrm>
        </p:spPr>
        <p:txBody>
          <a:bodyPr/>
          <a:lstStyle/>
          <a:p>
            <a:r>
              <a:rPr lang="vi-VN" sz="1800">
                <a:latin typeface="Segoe UI" panose="020B0502040204020203"/>
              </a:rPr>
              <a:t>SSL (Secure Sockets Layer) là một giao thức bảo mật được phát triển để thiết lập một kết nối mã hóa giữa máy chủ và máy khách. SSL được Netscape phát triển lần đầu tiên vào năm 1995 với mục đích đảm bảo quyền riêng tư, tính xác thực và tính toàn vẹn của dữ liệu trong truyền thông Internet.</a:t>
            </a:r>
            <a:endParaRPr lang="vi-VN" sz="1800">
              <a:latin typeface="Segoe UI" panose="020B0502040204020203"/>
            </a:endParaRPr>
          </a:p>
          <a:p>
            <a:r>
              <a:rPr lang="vi-VN" sz="1800">
                <a:latin typeface="Segoe UI" panose="020B0502040204020203"/>
              </a:rPr>
              <a:t>Tuy nhiên, giống như bất kỳ công nghệ nào, SSL cũng bộc lộ những hạn chế về bảo mật theo thời gian. Các phiên bản SSL 2.0 và 3.0 dần trở nên lỗi thời, tạo cơ hội cho các lỗ hổng bảo mật bị khai thác.</a:t>
            </a:r>
            <a:endParaRPr 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7"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8"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0"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en-US" sz="2400" b="1">
                <a:solidFill>
                  <a:srgbClr val="FFFFFF"/>
                </a:solidFill>
                <a:latin typeface="Segoe UI" panose="020B0502040204020203"/>
              </a:rPr>
              <a:t>SSL/TLS</a:t>
            </a:r>
            <a:endParaRPr lang="en-US" sz="2400" b="1">
              <a:solidFill>
                <a:srgbClr val="FFFFFF"/>
              </a:solidFill>
              <a:latin typeface="Segoe UI" panose="020B0502040204020203"/>
            </a:endParaRPr>
          </a:p>
        </p:txBody>
      </p:sp>
      <p:sp>
        <p:nvSpPr>
          <p:cNvPr id="3" name="Chỗ dành sẵn cho Nội dung 2"/>
          <p:cNvSpPr>
            <a:spLocks noGrp="1"/>
          </p:cNvSpPr>
          <p:nvPr>
            <p:ph idx="1"/>
          </p:nvPr>
        </p:nvSpPr>
        <p:spPr>
          <a:xfrm>
            <a:off x="1008519" y="2204268"/>
            <a:ext cx="9603275" cy="3450613"/>
          </a:xfrm>
        </p:spPr>
        <p:txBody>
          <a:bodyPr/>
          <a:lstStyle/>
          <a:p>
            <a:r>
              <a:rPr lang="vi-VN" sz="1800">
                <a:latin typeface="Segoe UI" panose="020B0502040204020203" pitchFamily="34" charset="0"/>
                <a:cs typeface="Times New Roman" panose="02020603050405020304" charset="0"/>
              </a:rPr>
              <a:t>Nhận thức được những hạn chế của SSL, TLS (Transport Layer Security</a:t>
            </a:r>
            <a:r>
              <a:rPr lang="vi-VN" sz="1800" b="1">
                <a:latin typeface="Segoe UI" panose="020B0502040204020203" pitchFamily="34" charset="0"/>
                <a:cs typeface="Times New Roman" panose="02020603050405020304" charset="0"/>
              </a:rPr>
              <a:t>)</a:t>
            </a:r>
            <a:r>
              <a:rPr lang="vi-VN" sz="1800">
                <a:latin typeface="Segoe UI" panose="020B0502040204020203" pitchFamily="34" charset="0"/>
                <a:cs typeface="Times New Roman" panose="02020603050405020304" charset="0"/>
              </a:rPr>
              <a:t> ra đời như một phiên bản nâng cấp, kế thừa những ưu điểm và khắc phục những lỗ hổng của SSL. </a:t>
            </a:r>
            <a:endParaRPr lang="vi-VN" sz="1800">
              <a:latin typeface="Segoe UI" panose="020B0502040204020203" pitchFamily="34" charset="0"/>
              <a:cs typeface="Times New Roman" panose="02020603050405020304" charset="0"/>
            </a:endParaRPr>
          </a:p>
          <a:p>
            <a:r>
              <a:rPr lang="vi-VN" sz="1800">
                <a:latin typeface="Segoe UI" panose="020B0502040204020203" pitchFamily="34" charset="0"/>
                <a:cs typeface="Times New Roman" panose="02020603050405020304" charset="0"/>
              </a:rPr>
              <a:t>TLS được xây dựng dựa trên nền tảng của SSL 3.0, đồng thời được bổ sung thêm nhiều tính năng bảo mật tiên tiến, đảm bảo an toàn cho dữ liệu trong môi trường Internet ngày càng phức tạp.</a:t>
            </a:r>
            <a:endParaRPr lang="vi-VN" sz="1800">
              <a:latin typeface="Segoe UI" panose="020B0502040204020203" pitchFamily="34" charset="0"/>
              <a:cs typeface="Times New Roman" panose="02020603050405020304" charset="0"/>
            </a:endParaRPr>
          </a:p>
          <a:p>
            <a:r>
              <a:rPr lang="en-US" sz="1800">
                <a:latin typeface="Segoe UI" panose="020B0502040204020203" pitchFamily="34" charset="0"/>
                <a:cs typeface="Times New Roman" panose="02020603050405020304" charset="0"/>
              </a:rPr>
              <a:t>Ngày nay, TLS đã thay thế hoàn toàn SSL, trở thành tiêu chuẩn bảo mật không thể thiếu cho các website và ứng dụng trực tuyến.</a:t>
            </a:r>
            <a:endParaRPr lang="en-US" sz="1800">
              <a:latin typeface="Segoe UI" panose="020B0502040204020203" pitchFamily="3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5"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6"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8"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2" name="Tiêu đề 1"/>
          <p:cNvSpPr>
            <a:spLocks noGrp="1"/>
          </p:cNvSpPr>
          <p:nvPr>
            <p:ph type="title"/>
          </p:nvPr>
        </p:nvSpPr>
        <p:spPr>
          <a:xfrm>
            <a:off x="457200" y="180000"/>
            <a:ext cx="10000000" cy="750000"/>
          </a:xfrm>
        </p:spPr>
        <p:txBody>
          <a:bodyPr/>
          <a:lstStyle/>
          <a:p>
            <a:pPr>
              <a:defRPr sz="2400" b="1">
                <a:solidFill>
                  <a:srgbClr val="FFFFFF"/>
                </a:solidFill>
                <a:latin typeface="Segoe UI" panose="020B0502040204020203"/>
              </a:defRPr>
            </a:pPr>
            <a:r>
              <a:rPr lang="vi-VN" sz="2400" b="1">
                <a:solidFill>
                  <a:srgbClr val="FFFFFF"/>
                </a:solidFill>
                <a:latin typeface="Segoe UI" panose="020B0502040204020203"/>
              </a:rPr>
              <a:t>SSL/TLS</a:t>
            </a:r>
            <a:endParaRPr lang="en-US"/>
          </a:p>
        </p:txBody>
      </p:sp>
      <p:pic>
        <p:nvPicPr>
          <p:cNvPr id="8" name="Chỗ dành sẵn cho Nội dung 4"/>
          <p:cNvPicPr>
            <a:picLocks noGrp="1" noChangeAspect="1"/>
          </p:cNvPicPr>
          <p:nvPr>
            <p:ph idx="1"/>
          </p:nvPr>
        </p:nvPicPr>
        <p:blipFill>
          <a:blip r:embed="rId2"/>
          <a:stretch>
            <a:fillRect/>
          </a:stretch>
        </p:blipFill>
        <p:spPr>
          <a:xfrm>
            <a:off x="1319733" y="2166953"/>
            <a:ext cx="5096896" cy="3449638"/>
          </a:xfrm>
          <a:prstGeom prst="rect">
            <a:avLst/>
          </a:prstGeom>
        </p:spPr>
      </p:pic>
      <p:sp>
        <p:nvSpPr>
          <p:cNvPr id="10" name="Hộp Văn bản 9"/>
          <p:cNvSpPr txBox="1"/>
          <p:nvPr/>
        </p:nvSpPr>
        <p:spPr>
          <a:xfrm>
            <a:off x="8079557" y="3176833"/>
            <a:ext cx="3980468" cy="646331"/>
          </a:xfrm>
          <a:prstGeom prst="rect">
            <a:avLst/>
          </a:prstGeom>
          <a:noFill/>
        </p:spPr>
        <p:txBody>
          <a:bodyPr wrap="square">
            <a:spAutoFit/>
          </a:bodyPr>
          <a:lstStyle/>
          <a:p>
            <a:r>
              <a:rPr lang="vi-VN" b="0" i="0">
                <a:effectLst/>
                <a:latin typeface="Segoe UI" panose="020B0502040204020203"/>
              </a:rPr>
              <a:t>website đó đang sử dụng giao thức bảo mật TLS để bảo vệ thông tin của bạn.</a:t>
            </a:r>
            <a:endParaRPr lang="en-US"/>
          </a:p>
        </p:txBody>
      </p:sp>
      <p:sp>
        <p:nvSpPr>
          <p:cNvPr id="11" name="Mũi tên: Phải 10"/>
          <p:cNvSpPr/>
          <p:nvPr/>
        </p:nvSpPr>
        <p:spPr>
          <a:xfrm rot="10800000">
            <a:off x="6853287" y="3176833"/>
            <a:ext cx="1027521" cy="7149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HUCE_Header_Rect"/>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UCE_Triangle"/>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UCE_Logo"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12" name="HUCE_Univ_Text"/>
          <p:cNvSpPr txBox="1"/>
          <p:nvPr/>
        </p:nvSpPr>
        <p:spPr>
          <a:xfrm>
            <a:off x="987552" y="6144768"/>
            <a:ext cx="2971800" cy="457200"/>
          </a:xfrm>
          <a:prstGeom prst="rect">
            <a:avLst/>
          </a:prstGeom>
          <a:noFill/>
        </p:spPr>
        <p:txBody>
          <a:bodyPr wrap="square" lIns="0" tIns="0" rIns="0" bIns="0">
            <a:spAutoFit/>
          </a:bodyPr>
          <a:lstStyle/>
          <a:p>
            <a:pPr>
              <a:spcAft>
                <a:spcPts val="100"/>
              </a:spcAft>
              <a:defRPr sz="1050" b="1">
                <a:solidFill>
                  <a:srgbClr val="000000"/>
                </a:solidFill>
                <a:latin typeface="Segoe UI" panose="020B0502040204020203"/>
              </a:defRPr>
            </a:pPr>
            <a:r>
              <a:rPr sz="1050" b="1">
                <a:latin typeface="Segoe UI" panose="020B0502040204020203"/>
              </a:rPr>
              <a:t>TRƯỜNG ĐẠI HỌC XÂY DỰNG HÀ NỘI</a:t>
            </a:r>
            <a:endParaRPr sz="1050" b="1">
              <a:latin typeface="Segoe UI" panose="020B0502040204020203"/>
            </a:endParaRPr>
          </a:p>
          <a:p>
            <a:pPr>
              <a:defRPr sz="850">
                <a:solidFill>
                  <a:srgbClr val="444444"/>
                </a:solidFill>
                <a:latin typeface="Segoe UI" panose="020B0502040204020203"/>
              </a:defRPr>
            </a:pPr>
            <a:r>
              <a:rPr sz="850">
                <a:latin typeface="Segoe UI" panose="020B0502040204020203"/>
              </a:rPr>
              <a:t>Hanoi University of Civil Engineering</a:t>
            </a:r>
            <a:endParaRPr sz="850">
              <a:latin typeface="Segoe UI" panose="020B0502040204020203"/>
            </a:endParaRPr>
          </a:p>
        </p:txBody>
      </p:sp>
      <p:sp>
        <p:nvSpPr>
          <p:cNvPr id="13" name="HUCE_Footer_Line"/>
          <p:cNvSpPr/>
          <p:nvPr/>
        </p:nvSpPr>
        <p:spPr>
          <a:xfrm>
            <a:off x="3977639" y="6272784"/>
            <a:ext cx="7754112"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UCE_URL"/>
          <p:cNvSpPr txBox="1"/>
          <p:nvPr/>
        </p:nvSpPr>
        <p:spPr>
          <a:xfrm>
            <a:off x="4114800" y="6419088"/>
            <a:ext cx="3962095" cy="320040"/>
          </a:xfrm>
          <a:prstGeom prst="rect">
            <a:avLst/>
          </a:prstGeom>
          <a:noFill/>
        </p:spPr>
        <p:txBody>
          <a:bodyPr wrap="square" lIns="0" tIns="0" rIns="0" bIns="0">
            <a:spAutoFit/>
          </a:bodyPr>
          <a:lstStyle/>
          <a:p>
            <a:pPr algn="ctr">
              <a:defRPr sz="950">
                <a:solidFill>
                  <a:srgbClr val="444444"/>
                </a:solidFill>
                <a:latin typeface="Segoe UI" panose="020B0502040204020203"/>
              </a:defRPr>
            </a:pPr>
            <a:r>
              <a:rPr sz="950">
                <a:latin typeface="Segoe UI" panose="020B0502040204020203"/>
              </a:rPr>
              <a:t>https://www.huce.edu.vn/</a:t>
            </a:r>
            <a:endParaRPr sz="950">
              <a:latin typeface="Segoe UI" panose="020B0502040204020203"/>
            </a:endParaRPr>
          </a:p>
        </p:txBody>
      </p:sp>
      <p:sp>
        <p:nvSpPr>
          <p:cNvPr id="15" name="HUCE_Slide_Number"/>
          <p:cNvSpPr txBox="1"/>
          <p:nvPr/>
        </p:nvSpPr>
        <p:spPr>
          <a:xfrm>
            <a:off x="11577320" y="6419088"/>
            <a:ext cx="127000" cy="161290"/>
          </a:xfrm>
          <a:prstGeom prst="rect">
            <a:avLst/>
          </a:prstGeom>
          <a:noFill/>
        </p:spPr>
        <p:txBody>
          <a:bodyPr wrap="none" lIns="0" tIns="0" rIns="0" bIns="0">
            <a:spAutoFit/>
          </a:bodyPr>
          <a:lstStyle/>
          <a:p>
            <a:pPr algn="r">
              <a:defRPr sz="1050" b="1">
                <a:solidFill>
                  <a:srgbClr val="880C10"/>
                </a:solidFill>
                <a:latin typeface="Segoe UI" panose="020B0502040204020203"/>
              </a:defRPr>
            </a:pPr>
            <a:endParaRPr sz="1050" b="1">
              <a:latin typeface="Segoe UI" panose="020B0502040204020203"/>
            </a:endParaRPr>
          </a:p>
        </p:txBody>
      </p:sp>
      <p:sp>
        <p:nvSpPr>
          <p:cNvPr id="3" name="Chỗ dành sẵn cho Nội dung 2"/>
          <p:cNvSpPr>
            <a:spLocks noGrp="1"/>
          </p:cNvSpPr>
          <p:nvPr>
            <p:ph idx="1"/>
          </p:nvPr>
        </p:nvSpPr>
        <p:spPr>
          <a:xfrm>
            <a:off x="1451579" y="2015732"/>
            <a:ext cx="3818005" cy="3450613"/>
          </a:xfrm>
        </p:spPr>
        <p:txBody>
          <a:bodyPr/>
          <a:lstStyle/>
          <a:p>
            <a:pPr algn="just"/>
            <a:r>
              <a:rPr lang="vi-VN" sz="1800">
                <a:latin typeface="Segoe UI" panose="020B0502040204020203" pitchFamily="34" charset="0"/>
                <a:cs typeface="Times New Roman" panose="02020603050405020304" charset="0"/>
              </a:rPr>
              <a:t>Fi</a:t>
            </a:r>
            <a:r>
              <a:rPr lang="en-US" sz="1800">
                <a:latin typeface="Segoe UI" panose="020B0502040204020203" pitchFamily="34" charset="0"/>
                <a:cs typeface="Times New Roman" panose="02020603050405020304" charset="0"/>
              </a:rPr>
              <a:t>le trên hệ điều hành dùng để ánh xạ tên miền với địa chỉ IP cục bộ, hữu ích để giả</a:t>
            </a:r>
            <a:r>
              <a:rPr lang="vi-VN" sz="1800">
                <a:latin typeface="Segoe UI" panose="020B0502040204020203" pitchFamily="34" charset="0"/>
                <a:cs typeface="Times New Roman" panose="02020603050405020304" charset="0"/>
              </a:rPr>
              <a:t> </a:t>
            </a:r>
            <a:r>
              <a:rPr lang="en-US" sz="1800">
                <a:latin typeface="Segoe UI" panose="020B0502040204020203" pitchFamily="34" charset="0"/>
                <a:cs typeface="Times New Roman" panose="02020603050405020304" charset="0"/>
              </a:rPr>
              <a:t>lập domain khi phát triển/kiểm thử mà không cần mua domain hay cấu hình DNS thật.</a:t>
            </a:r>
            <a:endParaRPr lang="en-US" sz="1800">
              <a:latin typeface="Segoe UI" panose="020B0502040204020203" pitchFamily="34" charset="0"/>
              <a:cs typeface="Times New Roman" panose="02020603050405020304" charset="0"/>
            </a:endParaRPr>
          </a:p>
        </p:txBody>
      </p:sp>
      <p:sp>
        <p:nvSpPr>
          <p:cNvPr id="5" name="Hộp Văn bản 4"/>
          <p:cNvSpPr txBox="1"/>
          <p:nvPr/>
        </p:nvSpPr>
        <p:spPr>
          <a:xfrm>
            <a:off x="457200" y="180000"/>
            <a:ext cx="10000000" cy="750000"/>
          </a:xfrm>
          <a:prstGeom prst="rect">
            <a:avLst/>
          </a:prstGeom>
          <a:noFill/>
        </p:spPr>
        <p:txBody>
          <a:bodyPr wrap="square">
            <a:spAutoFit/>
          </a:bodyPr>
          <a:lstStyle/>
          <a:p>
            <a:pPr>
              <a:defRPr sz="2400" b="1">
                <a:solidFill>
                  <a:srgbClr val="FFFFFF"/>
                </a:solidFill>
                <a:latin typeface="Segoe UI" panose="020B0502040204020203"/>
              </a:defRPr>
            </a:pPr>
            <a:r>
              <a:rPr lang="en-US" sz="2400" b="1">
                <a:solidFill>
                  <a:srgbClr val="FFFFFF"/>
                </a:solidFill>
                <a:latin typeface="Segoe UI" panose="020B0502040204020203" pitchFamily="34" charset="0"/>
                <a:cs typeface="Times New Roman" panose="02020603050405020304" charset="0"/>
              </a:rPr>
              <a:t>File /etc/hosts</a:t>
            </a:r>
            <a:endParaRPr lang="en-US" sz="2400" b="1">
              <a:solidFill>
                <a:srgbClr val="FFFFFF"/>
              </a:solidFill>
              <a:latin typeface="Segoe UI" panose="020B0502040204020203" pitchFamily="34" charset="0"/>
              <a:cs typeface="Times New Roman" panose="02020603050405020304" charset="0"/>
            </a:endParaRPr>
          </a:p>
        </p:txBody>
      </p:sp>
      <p:pic>
        <p:nvPicPr>
          <p:cNvPr id="8" name="Hình ảnh 7"/>
          <p:cNvPicPr>
            <a:picLocks noChangeAspect="1"/>
          </p:cNvPicPr>
          <p:nvPr/>
        </p:nvPicPr>
        <p:blipFill>
          <a:blip r:embed="rId2"/>
          <a:stretch>
            <a:fillRect/>
          </a:stretch>
        </p:blipFill>
        <p:spPr>
          <a:xfrm>
            <a:off x="6096000" y="2015732"/>
            <a:ext cx="5013290" cy="38406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3: KIẾN TRÚC &amp; CẤU TRÚC FILE CẤU HÌNH NGINX</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Tại sao chọn NGINX? (Kiến trúc Event-Driven)</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Apache truyền thống: Process/Thread per Connection (Tốn RAM, nghẽn khi đông truy cập).</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NGINX: Kiến trúc hướng sự kiện (Asynchronous &amp; Event-driven).</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Một Worker process xử lý hàng chục nghìn kết nối đồng thời (C10K problem).</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Tối ưu hóa bộ nhớ RAM và tiêu thụ CPU cực kỳ thấp.</a:t>
            </a:r>
            <a:endParaRPr sz="1800" b="0">
              <a:solidFill>
                <a:srgbClr val="1F242E"/>
              </a:solidFill>
              <a:latin typeface="Segoe UI" panose="020B050204020402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2. Cấu trúc phân cấp của `nginx.conf`</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main context</a:t>
            </a:r>
            <a:r>
              <a:rPr sz="1800" b="0">
                <a:solidFill>
                  <a:srgbClr val="1F242E"/>
                </a:solidFill>
                <a:latin typeface="Segoe UI" panose="020B0502040204020203"/>
              </a:rPr>
              <a:t>: Cấu hình tiến trình hệ thống (</a:t>
            </a:r>
            <a:r>
              <a:rPr sz="1800" b="1">
                <a:solidFill>
                  <a:srgbClr val="1F242E"/>
                </a:solidFill>
                <a:latin typeface="Segoe UI" panose="020B0502040204020203"/>
              </a:rPr>
              <a:t>worker_processes</a:t>
            </a:r>
            <a:r>
              <a:rPr sz="1800" b="0">
                <a:solidFill>
                  <a:srgbClr val="1F242E"/>
                </a:solidFill>
                <a:latin typeface="Segoe UI" panose="020B0502040204020203"/>
              </a:rPr>
              <a:t>, </a:t>
            </a:r>
            <a:r>
              <a:rPr sz="1800" b="1">
                <a:solidFill>
                  <a:srgbClr val="1F242E"/>
                </a:solidFill>
                <a:latin typeface="Segoe UI" panose="020B0502040204020203"/>
              </a:rPr>
              <a:t>error_log</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events {}</a:t>
            </a:r>
            <a:r>
              <a:rPr sz="1800" b="0">
                <a:solidFill>
                  <a:srgbClr val="1F242E"/>
                </a:solidFill>
                <a:latin typeface="Segoe UI" panose="020B0502040204020203"/>
              </a:rPr>
              <a:t>: Cấu hình kết nối mạng (</a:t>
            </a:r>
            <a:r>
              <a:rPr sz="1800" b="1">
                <a:solidFill>
                  <a:srgbClr val="1F242E"/>
                </a:solidFill>
                <a:latin typeface="Segoe UI" panose="020B0502040204020203"/>
              </a:rPr>
              <a:t>worker_connections</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http {}</a:t>
            </a:r>
            <a:r>
              <a:rPr sz="1800" b="0">
                <a:solidFill>
                  <a:srgbClr val="1F242E"/>
                </a:solidFill>
                <a:latin typeface="Segoe UI" panose="020B0502040204020203"/>
              </a:rPr>
              <a:t>: Cấu hình xử lý giao thức web toàn cục (MIME types, Logging, Gzip).</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server {}</a:t>
            </a:r>
            <a:r>
              <a:rPr sz="1800" b="0">
                <a:solidFill>
                  <a:srgbClr val="1F242E"/>
                </a:solidFill>
                <a:latin typeface="Segoe UI" panose="020B0502040204020203"/>
              </a:rPr>
              <a:t>: Định nghĩa một Virtual Host (theo IP, Port, Domain).</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location {}</a:t>
            </a:r>
            <a:r>
              <a:rPr sz="1800" b="0">
                <a:solidFill>
                  <a:srgbClr val="1F242E"/>
                </a:solidFill>
                <a:latin typeface="Segoe UI" panose="020B0502040204020203"/>
              </a:rPr>
              <a:t>: Định tuyến theo đường dẫn URI cụ thể (</a:t>
            </a:r>
            <a:r>
              <a:rPr sz="1800" b="1">
                <a:solidFill>
                  <a:srgbClr val="1F242E"/>
                </a:solidFill>
                <a:latin typeface="Segoe UI" panose="020B0502040204020203"/>
              </a:rPr>
              <a:t>/</a:t>
            </a:r>
            <a:r>
              <a:rPr sz="1800" b="0">
                <a:solidFill>
                  <a:srgbClr val="1F242E"/>
                </a:solidFill>
                <a:latin typeface="Segoe UI" panose="020B0502040204020203"/>
              </a:rPr>
              <a:t>, </a:t>
            </a:r>
            <a:r>
              <a:rPr sz="1800" b="1">
                <a:solidFill>
                  <a:srgbClr val="1F242E"/>
                </a:solidFill>
                <a:latin typeface="Segoe UI" panose="020B0502040204020203"/>
              </a:rPr>
              <a:t>/api/</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upstream {}</a:t>
            </a:r>
            <a:r>
              <a:rPr sz="1800" b="0">
                <a:solidFill>
                  <a:srgbClr val="1F242E"/>
                </a:solidFill>
                <a:latin typeface="Segoe UI" panose="020B0502040204020203"/>
              </a:rPr>
              <a:t>: Gom nhóm các máy chủ backend để cân bằng tải.</a:t>
            </a:r>
            <a:endParaRPr sz="1800" b="0">
              <a:solidFill>
                <a:srgbClr val="1F242E"/>
              </a:solidFill>
              <a:latin typeface="Segoe UI" panose="020B0502040204020203"/>
            </a:endParaRPr>
          </a:p>
        </p:txBody>
      </p:sp>
      <p:pic>
        <p:nvPicPr>
          <p:cNvPr id="11" name="Hình ảnh 10"/>
          <p:cNvPicPr>
            <a:picLocks noChangeAspect="1"/>
          </p:cNvPicPr>
          <p:nvPr/>
        </p:nvPicPr>
        <p:blipFill>
          <a:blip r:embed="rId2"/>
          <a:stretch>
            <a:fillRect/>
          </a:stretch>
        </p:blipFill>
        <p:spPr>
          <a:xfrm>
            <a:off x="5927090" y="1101090"/>
            <a:ext cx="5045710" cy="50946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3. Các Directive then chốt trong NGINX</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listen</a:t>
            </a:r>
            <a:r>
              <a:rPr sz="1800" b="0">
                <a:solidFill>
                  <a:srgbClr val="1F242E"/>
                </a:solidFill>
                <a:latin typeface="Segoe UI" panose="020B0502040204020203"/>
              </a:rPr>
              <a:t>: Khai báo cổng lắng nghe (</a:t>
            </a:r>
            <a:r>
              <a:rPr sz="1800" b="1">
                <a:solidFill>
                  <a:srgbClr val="1F242E"/>
                </a:solidFill>
                <a:latin typeface="Segoe UI" panose="020B0502040204020203"/>
              </a:rPr>
              <a:t>80</a:t>
            </a:r>
            <a:r>
              <a:rPr sz="1800" b="0">
                <a:solidFill>
                  <a:srgbClr val="1F242E"/>
                </a:solidFill>
                <a:latin typeface="Segoe UI" panose="020B0502040204020203"/>
              </a:rPr>
              <a:t>, </a:t>
            </a:r>
            <a:r>
              <a:rPr sz="1800" b="1">
                <a:solidFill>
                  <a:srgbClr val="1F242E"/>
                </a:solidFill>
                <a:latin typeface="Segoe UI" panose="020B0502040204020203"/>
              </a:rPr>
              <a:t>443 ssl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server_name</a:t>
            </a:r>
            <a:r>
              <a:rPr sz="1800" b="0">
                <a:solidFill>
                  <a:srgbClr val="1F242E"/>
                </a:solidFill>
                <a:latin typeface="Segoe UI" panose="020B0502040204020203"/>
              </a:rPr>
              <a:t>: Tên miền tiếp nhận (</a:t>
            </a:r>
            <a:r>
              <a:rPr sz="1800" b="1">
                <a:solidFill>
                  <a:srgbClr val="1F242E"/>
                </a:solidFill>
                <a:latin typeface="Segoe UI" panose="020B0502040204020203"/>
              </a:rPr>
              <a:t>localhost</a:t>
            </a:r>
            <a:r>
              <a:rPr sz="1800" b="0">
                <a:solidFill>
                  <a:srgbClr val="1F242E"/>
                </a:solidFill>
                <a:latin typeface="Segoe UI" panose="020B0502040204020203"/>
              </a:rPr>
              <a:t>, </a:t>
            </a:r>
            <a:r>
              <a:rPr sz="1800" b="1">
                <a:solidFill>
                  <a:srgbClr val="1F242E"/>
                </a:solidFill>
                <a:latin typeface="Segoe UI" panose="020B0502040204020203"/>
              </a:rPr>
              <a:t>luma-store.local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root</a:t>
            </a:r>
            <a:r>
              <a:rPr sz="1800" b="0">
                <a:solidFill>
                  <a:srgbClr val="1F242E"/>
                </a:solidFill>
                <a:latin typeface="Segoe UI" panose="020B0502040204020203"/>
              </a:rPr>
              <a:t> vs </a:t>
            </a:r>
            <a:r>
              <a:rPr sz="1800" b="1">
                <a:solidFill>
                  <a:srgbClr val="1F242E"/>
                </a:solidFill>
                <a:latin typeface="Segoe UI" panose="020B0502040204020203"/>
              </a:rPr>
              <a:t>alias</a:t>
            </a:r>
            <a:r>
              <a:rPr sz="1800" b="0">
                <a:solidFill>
                  <a:srgbClr val="1F242E"/>
                </a:solidFill>
                <a:latin typeface="Segoe UI" panose="020B0502040204020203"/>
              </a:rPr>
              <a:t>: Thư mục gốc chứa tài nguyên tĩnh.</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proxy_pass</a:t>
            </a:r>
            <a:r>
              <a:rPr sz="1800" b="0">
                <a:solidFill>
                  <a:srgbClr val="1F242E"/>
                </a:solidFill>
                <a:latin typeface="Segoe UI" panose="020B0502040204020203"/>
              </a:rPr>
              <a:t>: Chuyển tiếp request đến server đích.</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proxy_set_header</a:t>
            </a:r>
            <a:r>
              <a:rPr sz="1800" b="0">
                <a:solidFill>
                  <a:srgbClr val="1F242E"/>
                </a:solidFill>
                <a:latin typeface="Segoe UI" panose="020B0502040204020203"/>
              </a:rPr>
              <a:t>: Bảo toàn thông tin định danh của Client khi chuyển tiếp.</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6090285" y="1140460"/>
            <a:ext cx="5323205" cy="4419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4: DEMO THỰC CHIẾN TRÊN DỰ ÁN LUMA STORE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1. Demo 1 - NGINX làm Web Server phục vụ Frontend</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1 – Phục vụ Frontend tĩnh qua </a:t>
            </a:r>
            <a:r>
              <a:rPr lang="vi-VN" sz="1800" b="1" dirty="0">
                <a:solidFill>
                  <a:srgbClr val="000000"/>
                </a:solidFill>
              </a:rPr>
              <a:t>nginx/stages/1.conf</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Mã nguồn Frontend: </a:t>
            </a:r>
            <a:r>
              <a:rPr lang="vi-VN" sz="1800" b="1" dirty="0">
                <a:solidFill>
                  <a:srgbClr val="000000"/>
                </a:solidFill>
              </a:rPr>
              <a:t>HTML, CSS và JavaScript ES modules</a:t>
            </a:r>
            <a:r>
              <a:rPr lang="vi-VN" sz="1800" dirty="0">
                <a:solidFill>
                  <a:srgbClr val="000000"/>
                </a:solidFill>
              </a:rPr>
              <a:t> (không dùng React/Vue).</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Cấu hình Web Server: </a:t>
            </a:r>
            <a:r>
              <a:rPr lang="vi-VN" sz="1800" b="1" dirty="0">
                <a:solidFill>
                  <a:srgbClr val="000000"/>
                </a:solidFill>
              </a:rPr>
              <a:t>root /usr/share/nginx/html; index index.html;</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Mount volume: </a:t>
            </a:r>
            <a:r>
              <a:rPr lang="vi-VN" sz="1800" b="1" dirty="0">
                <a:solidFill>
                  <a:srgbClr val="000000"/>
                </a:solidFill>
              </a:rPr>
              <a:t>./frontend:/usr/share/nginx/html:ro</a:t>
            </a:r>
            <a:r>
              <a:rPr lang="vi-VN" sz="1800" dirty="0">
                <a:solidFill>
                  <a:srgbClr val="000000"/>
                </a:solidFill>
              </a:rPr>
              <a:t> trong </a:t>
            </a:r>
            <a:r>
              <a:rPr lang="vi-VN" sz="1800" b="1" dirty="0">
                <a:solidFill>
                  <a:srgbClr val="000000"/>
                </a:solidFill>
              </a:rPr>
              <a:t>compose.yaml</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Kiểm chứng: </a:t>
            </a:r>
            <a:r>
              <a:rPr lang="vi-VN" sz="1800" b="1" dirty="0">
                <a:solidFill>
                  <a:srgbClr val="000000"/>
                </a:solidFill>
              </a:rPr>
              <a:t>http://localhost:8080</a:t>
            </a:r>
            <a:r>
              <a:rPr lang="vi-VN" sz="1800" dirty="0">
                <a:solidFill>
                  <a:srgbClr val="000000"/>
                </a:solidFill>
              </a:rPr>
              <a:t> → DevTools Network → tải file tĩnh mã </a:t>
            </a:r>
            <a:r>
              <a:rPr lang="vi-VN" sz="1800" b="1" dirty="0">
                <a:solidFill>
                  <a:srgbClr val="000000"/>
                </a:solidFill>
              </a:rPr>
              <a:t>HTTP 200</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Phân định vai trò: Gọi </a:t>
            </a:r>
            <a:r>
              <a:rPr lang="vi-VN" sz="1800" b="1" dirty="0">
                <a:solidFill>
                  <a:srgbClr val="000000"/>
                </a:solidFill>
              </a:rPr>
              <a:t>/api/</a:t>
            </a:r>
            <a:r>
              <a:rPr lang="vi-VN" sz="1800" dirty="0">
                <a:solidFill>
                  <a:srgbClr val="000000"/>
                </a:solidFill>
              </a:rPr>
              <a:t> ở stage 1 trả </a:t>
            </a:r>
            <a:r>
              <a:rPr lang="vi-VN" sz="1800" b="1" dirty="0">
                <a:solidFill>
                  <a:srgbClr val="000000"/>
                </a:solidFill>
              </a:rPr>
              <a:t>503</a:t>
            </a:r>
            <a:r>
              <a:rPr lang="vi-VN" sz="1800" dirty="0">
                <a:solidFill>
                  <a:srgbClr val="000000"/>
                </a:solidFill>
              </a:rPr>
              <a:t> vì chỉ phục vụ web tĩnh.</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5885180" y="1299845"/>
            <a:ext cx="5715000" cy="37776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2. Demo 1 - Kết quả thực nghiệm Web Server</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1 – Kết quả thực nghiệm Web Server</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Địa chỉ demo: </a:t>
            </a:r>
            <a:r>
              <a:rPr lang="vi-VN" sz="1800" b="1" dirty="0">
                <a:solidFill>
                  <a:srgbClr val="000000"/>
                </a:solidFill>
              </a:rPr>
              <a:t>http://localhost:8080</a:t>
            </a:r>
            <a:r>
              <a:rPr lang="vi-VN" sz="1800" dirty="0">
                <a:solidFill>
                  <a:srgbClr val="000000"/>
                </a:solidFill>
              </a:rPr>
              <a:t> (host port 8080 ánh xạ vào container port 80).</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Port mapping: </a:t>
            </a:r>
            <a:r>
              <a:rPr lang="vi-VN" sz="1800" dirty="0">
                <a:solidFill>
                  <a:srgbClr val="000000"/>
                </a:solidFill>
              </a:rPr>
              <a:t>Docker ánh xạ </a:t>
            </a:r>
            <a:r>
              <a:rPr lang="vi-VN" sz="1800" b="1" dirty="0">
                <a:solidFill>
                  <a:srgbClr val="000000"/>
                </a:solidFill>
              </a:rPr>
              <a:t>8080:80</a:t>
            </a:r>
            <a:r>
              <a:rPr lang="vi-VN" sz="1800" dirty="0">
                <a:solidFill>
                  <a:srgbClr val="000000"/>
                </a:solidFill>
              </a:rPr>
              <a:t>; NGINX lắng nghe cổng </a:t>
            </a:r>
            <a:r>
              <a:rPr lang="vi-VN" sz="1800" b="1" dirty="0">
                <a:solidFill>
                  <a:srgbClr val="000000"/>
                </a:solidFill>
              </a:rPr>
              <a:t>80</a:t>
            </a:r>
            <a:r>
              <a:rPr lang="vi-VN" sz="1800" dirty="0">
                <a:solidFill>
                  <a:srgbClr val="000000"/>
                </a:solidFill>
              </a:rPr>
              <a:t> container.</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Kết quả hiển thị: </a:t>
            </a:r>
            <a:r>
              <a:rPr lang="vi-VN" sz="1800" dirty="0">
                <a:solidFill>
                  <a:srgbClr val="000000"/>
                </a:solidFill>
              </a:rPr>
              <a:t>Giao diện Luma Store xuất hiện tức thì.</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Network tab: </a:t>
            </a:r>
            <a:r>
              <a:rPr lang="vi-VN" sz="1800" dirty="0">
                <a:solidFill>
                  <a:srgbClr val="000000"/>
                </a:solidFill>
              </a:rPr>
              <a:t>Trình duyệt tải trực tiếp các file tĩnh với mã </a:t>
            </a:r>
            <a:r>
              <a:rPr lang="vi-VN" sz="1800" b="1" dirty="0">
                <a:solidFill>
                  <a:srgbClr val="000000"/>
                </a:solidFill>
              </a:rPr>
              <a:t>HTTP 200 / 304</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Server Header: </a:t>
            </a:r>
            <a:r>
              <a:rPr lang="vi-VN" sz="1800" b="1" dirty="0">
                <a:solidFill>
                  <a:srgbClr val="000000"/>
                </a:solidFill>
              </a:rPr>
              <a:t>Server: nginx</a:t>
            </a:r>
            <a:r>
              <a:rPr lang="vi-VN" sz="1800" dirty="0">
                <a:solidFill>
                  <a:srgbClr val="000000"/>
                </a:solidFill>
              </a:rPr>
              <a:t> xác nhận phản hồi được trả từ NGINX.</a:t>
            </a:r>
            <a:endParaRPr lang="vi-VN" sz="1800" dirty="0">
              <a:solidFill>
                <a:srgbClr val="000000"/>
              </a:solidFill>
            </a:endParaRPr>
          </a:p>
        </p:txBody>
      </p:sp>
      <p:pic>
        <p:nvPicPr>
          <p:cNvPr id="12" name="Hình ảnh 11"/>
          <p:cNvPicPr>
            <a:picLocks noChangeAspect="1"/>
          </p:cNvPicPr>
          <p:nvPr/>
        </p:nvPicPr>
        <p:blipFill>
          <a:blip r:embed="rId2"/>
          <a:stretch>
            <a:fillRect/>
          </a:stretch>
        </p:blipFill>
        <p:spPr>
          <a:xfrm>
            <a:off x="5749925" y="1299845"/>
            <a:ext cx="4664710" cy="3989705"/>
          </a:xfrm>
          <a:prstGeom prst="rect">
            <a:avLst/>
          </a:prstGeom>
        </p:spPr>
      </p:pic>
      <p:pic>
        <p:nvPicPr>
          <p:cNvPr id="14" name="Hình ảnh 13"/>
          <p:cNvPicPr/>
          <p:nvPr/>
        </p:nvPicPr>
        <p:blipFill>
          <a:blip r:embed="rId3"/>
          <a:stretch>
            <a:fillRect/>
          </a:stretch>
        </p:blipFill>
        <p:spPr>
          <a:xfrm rot="10800000">
            <a:off x="8921115" y="2247265"/>
            <a:ext cx="517525" cy="267970"/>
          </a:xfrm>
          <a:prstGeom prst="rect">
            <a:avLst/>
          </a:prstGeom>
        </p:spPr>
      </p:pic>
      <p:pic>
        <p:nvPicPr>
          <p:cNvPr id="15" name="Hình ảnh 14"/>
          <p:cNvPicPr/>
          <p:nvPr/>
        </p:nvPicPr>
        <p:blipFill>
          <a:blip r:embed="rId3"/>
          <a:stretch>
            <a:fillRect/>
          </a:stretch>
        </p:blipFill>
        <p:spPr>
          <a:xfrm rot="10800000">
            <a:off x="9173210" y="5021580"/>
            <a:ext cx="517525" cy="2679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3. Demo 2 - Vấn đề SOP và giải pháp cùng Origin</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2 – Same-Origin Policy và CORS</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Khái niệm Origin: </a:t>
            </a:r>
            <a:r>
              <a:rPr lang="vi-VN" sz="1800" dirty="0">
                <a:solidFill>
                  <a:srgbClr val="000000"/>
                </a:solidFill>
              </a:rPr>
              <a:t>Xác định bởi bộ ba </a:t>
            </a:r>
            <a:r>
              <a:rPr lang="vi-VN" sz="1800" b="1" dirty="0">
                <a:solidFill>
                  <a:srgbClr val="000000"/>
                </a:solidFill>
              </a:rPr>
              <a:t>scheme + hostname + port</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Vấn đề CORS: </a:t>
            </a:r>
            <a:r>
              <a:rPr lang="vi-VN" sz="1800" dirty="0">
                <a:solidFill>
                  <a:srgbClr val="000000"/>
                </a:solidFill>
              </a:rPr>
              <a:t>Gọi API khác origin có thể bị trình duyệt chặn đọc response.</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Giải pháp NGINX: </a:t>
            </a:r>
            <a:r>
              <a:rPr lang="vi-VN" sz="1800" dirty="0">
                <a:solidFill>
                  <a:srgbClr val="000000"/>
                </a:solidFill>
              </a:rPr>
              <a:t>Tiếp nhận request và proxy </a:t>
            </a:r>
            <a:r>
              <a:rPr lang="vi-VN" sz="1800" b="1" dirty="0">
                <a:solidFill>
                  <a:srgbClr val="000000"/>
                </a:solidFill>
              </a:rPr>
              <a:t>/api/</a:t>
            </a:r>
            <a:r>
              <a:rPr lang="vi-VN" sz="1800" dirty="0">
                <a:solidFill>
                  <a:srgbClr val="000000"/>
                </a:solidFill>
              </a:rPr>
              <a:t> đến backend.</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Cùng Origin: </a:t>
            </a:r>
            <a:r>
              <a:rPr lang="vi-VN" sz="1800" dirty="0">
                <a:solidFill>
                  <a:srgbClr val="000000"/>
                </a:solidFill>
              </a:rPr>
              <a:t>Frontend và API đều qua </a:t>
            </a:r>
            <a:r>
              <a:rPr lang="vi-VN" sz="1800" b="1" dirty="0">
                <a:solidFill>
                  <a:srgbClr val="000000"/>
                </a:solidFill>
              </a:rPr>
              <a:t>http://localhost:8080</a:t>
            </a:r>
            <a:r>
              <a:rPr lang="vi-VN" sz="1800" dirty="0">
                <a:solidFill>
                  <a:srgbClr val="000000"/>
                </a:solidFill>
              </a:rPr>
              <a:t> → không cần CORS.</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Đặc điểm Luma Store: </a:t>
            </a:r>
            <a:r>
              <a:rPr lang="vi-VN" sz="1800" dirty="0">
                <a:solidFill>
                  <a:srgbClr val="000000"/>
                </a:solidFill>
              </a:rPr>
              <a:t>Dùng URL tương đối </a:t>
            </a:r>
            <a:r>
              <a:rPr lang="vi-VN" sz="1800" b="1" dirty="0">
                <a:solidFill>
                  <a:srgbClr val="000000"/>
                </a:solidFill>
              </a:rPr>
              <a:t>/api/...</a:t>
            </a:r>
            <a:r>
              <a:rPr lang="vi-VN" sz="1800" dirty="0">
                <a:solidFill>
                  <a:srgbClr val="000000"/>
                </a:solidFill>
              </a:rPr>
              <a:t> nên chạy đồng nhất HTTP/HTTPS.</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6010910" y="1518285"/>
            <a:ext cx="5829300" cy="16440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4. Demo 2 - Cấu hình Reverse Proxy</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Cấu hình Reverse Proxy trong </a:t>
            </a:r>
            <a:r>
              <a:rPr lang="vi-VN" sz="1800" b="1" dirty="0">
                <a:solidFill>
                  <a:srgbClr val="000000"/>
                </a:solidFill>
              </a:rPr>
              <a:t>nginx/stages/2.conf</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Chuyển tiếp API: </a:t>
            </a:r>
            <a:r>
              <a:rPr lang="vi-VN" sz="1800" b="1" dirty="0">
                <a:solidFill>
                  <a:srgbClr val="000000"/>
                </a:solidFill>
              </a:rPr>
              <a:t>proxy_pass http://backend1:8080;</a:t>
            </a:r>
            <a:r>
              <a:rPr lang="vi-VN" sz="1800" dirty="0">
                <a:solidFill>
                  <a:srgbClr val="000000"/>
                </a:solidFill>
              </a:rPr>
              <a:t> (service </a:t>
            </a:r>
            <a:r>
              <a:rPr lang="vi-VN" sz="1800" b="1" dirty="0">
                <a:solidFill>
                  <a:srgbClr val="000000"/>
                </a:solidFill>
              </a:rPr>
              <a:t>backend1</a:t>
            </a:r>
            <a:r>
              <a:rPr lang="vi-VN" sz="1800" dirty="0">
                <a:solidFill>
                  <a:srgbClr val="000000"/>
                </a:solidFill>
              </a:rPr>
              <a:t> cổng 8080).</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Xử lý URI: </a:t>
            </a:r>
            <a:r>
              <a:rPr lang="vi-VN" sz="1800" dirty="0">
                <a:solidFill>
                  <a:srgbClr val="000000"/>
                </a:solidFill>
              </a:rPr>
              <a:t>Không có dấu </a:t>
            </a:r>
            <a:r>
              <a:rPr lang="vi-VN" sz="1800" b="1" dirty="0">
                <a:solidFill>
                  <a:srgbClr val="000000"/>
                </a:solidFill>
              </a:rPr>
              <a:t>/</a:t>
            </a:r>
            <a:r>
              <a:rPr lang="vi-VN" sz="1800" dirty="0">
                <a:solidFill>
                  <a:srgbClr val="000000"/>
                </a:solidFill>
              </a:rPr>
              <a:t> sau cổng → giữ nguyên tiền tố </a:t>
            </a:r>
            <a:r>
              <a:rPr lang="vi-VN" sz="1800" b="1" dirty="0">
                <a:solidFill>
                  <a:srgbClr val="000000"/>
                </a:solidFill>
              </a:rPr>
              <a:t>/api/products</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Bảo toàn Host: </a:t>
            </a:r>
            <a:r>
              <a:rPr lang="vi-VN" sz="1800" b="1" dirty="0">
                <a:solidFill>
                  <a:srgbClr val="000000"/>
                </a:solidFill>
              </a:rPr>
              <a:t>proxy_set_header Host $host;</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Địa chỉ Client: </a:t>
            </a:r>
            <a:r>
              <a:rPr lang="vi-VN" sz="1800" b="1" dirty="0">
                <a:solidFill>
                  <a:srgbClr val="000000"/>
                </a:solidFill>
              </a:rPr>
              <a:t>proxy_set_header X-Real-IP $remote_addr;</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Chuỗi chuyển tiếp: </a:t>
            </a:r>
            <a:r>
              <a:rPr lang="vi-VN" sz="1800" b="1" dirty="0">
                <a:solidFill>
                  <a:srgbClr val="000000"/>
                </a:solidFill>
              </a:rPr>
              <a:t>proxy_set_header X-Forwarded-For $proxy_add_x_forwarded_for;</a:t>
            </a:r>
            <a:endParaRPr lang="vi-VN" sz="1800" b="1" dirty="0">
              <a:solidFill>
                <a:srgbClr val="000000"/>
              </a:solidFill>
            </a:endParaRPr>
          </a:p>
        </p:txBody>
      </p:sp>
      <p:pic>
        <p:nvPicPr>
          <p:cNvPr id="10" name="Hình ảnh 9"/>
          <p:cNvPicPr>
            <a:picLocks noChangeAspect="1"/>
          </p:cNvPicPr>
          <p:nvPr/>
        </p:nvPicPr>
        <p:blipFill>
          <a:blip r:embed="rId2"/>
          <a:stretch>
            <a:fillRect/>
          </a:stretch>
        </p:blipFill>
        <p:spPr>
          <a:xfrm>
            <a:off x="5883275" y="1442085"/>
            <a:ext cx="5638800" cy="996315"/>
          </a:xfrm>
          <a:prstGeom prst="rect">
            <a:avLst/>
          </a:prstGeom>
        </p:spPr>
      </p:pic>
      <p:pic>
        <p:nvPicPr>
          <p:cNvPr id="11" name="Hình ảnh 10"/>
          <p:cNvPicPr>
            <a:picLocks noChangeAspect="1"/>
          </p:cNvPicPr>
          <p:nvPr/>
        </p:nvPicPr>
        <p:blipFill>
          <a:blip r:embed="rId3"/>
          <a:stretch>
            <a:fillRect/>
          </a:stretch>
        </p:blipFill>
        <p:spPr>
          <a:xfrm>
            <a:off x="5883275" y="2828925"/>
            <a:ext cx="5638800" cy="10344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5. Demo 2 - Bảo toàn thông tin Client qua Proxy</a:t>
            </a:r>
            <a:endParaRPr lang="vi-VN" sz="2400" b="1" dirty="0">
              <a:solidFill>
                <a:srgbClr val="FFFFFF"/>
              </a:solidFill>
            </a:endParaRPr>
          </a:p>
        </p:txBody>
      </p:sp>
      <p:sp>
        <p:nvSpPr>
          <p:cNvPr id="9" name="TextBox 8"/>
          <p:cNvSpPr txBox="1"/>
          <p:nvPr/>
        </p:nvSpPr>
        <p:spPr>
          <a:xfrm>
            <a:off x="457200" y="1166650"/>
            <a:ext cx="5200000" cy="4600000"/>
          </a:xfrm>
          <a:prstGeom prst="rect">
            <a:avLst/>
          </a:prstGeom>
          <a:noFill/>
        </p:spPr>
        <p:txBody>
          <a:bodyPr wrap="square" lIns="0" tIns="0" rIns="0" bIns="0">
            <a:noAutofit/>
          </a:bodyPr>
          <a:lstStyle/>
          <a:p>
            <a:pPr algn="l"/>
            <a:r>
              <a:rPr lang="vi-VN" sz="1800" b="1" dirty="0">
                <a:solidFill>
                  <a:srgbClr val="000000"/>
                </a:solidFill>
              </a:rPr>
              <a:t>Demo 2 – Bảo toàn thông tin Client qua Reverse Proxy</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Header </a:t>
            </a:r>
            <a:r>
              <a:rPr lang="vi-VN" sz="1800" b="1" dirty="0">
                <a:solidFill>
                  <a:srgbClr val="000000"/>
                </a:solidFill>
              </a:rPr>
              <a:t>X-Real-IP</a:t>
            </a:r>
            <a:r>
              <a:rPr lang="vi-VN" sz="1800" dirty="0">
                <a:solidFill>
                  <a:srgbClr val="000000"/>
                </a:solidFill>
              </a:rPr>
              <a:t>: Chuyển tiếp địa chỉ IP thực của client do NGINX ghi nhận.</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Header </a:t>
            </a:r>
            <a:r>
              <a:rPr lang="vi-VN" sz="1800" b="1" dirty="0">
                <a:solidFill>
                  <a:srgbClr val="000000"/>
                </a:solidFill>
              </a:rPr>
              <a:t>X-Forwarded-For</a:t>
            </a:r>
            <a:r>
              <a:rPr lang="vi-VN" sz="1800" dirty="0">
                <a:solidFill>
                  <a:srgbClr val="000000"/>
                </a:solidFill>
              </a:rPr>
              <a:t>: Lưu chuỗi địa chỉ IP qua từng chặng chuyển tiếp.</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Header </a:t>
            </a:r>
            <a:r>
              <a:rPr lang="vi-VN" sz="1800" b="1" dirty="0">
                <a:solidFill>
                  <a:srgbClr val="000000"/>
                </a:solidFill>
              </a:rPr>
              <a:t>X-Forwarded-Proto</a:t>
            </a:r>
            <a:r>
              <a:rPr lang="vi-VN" sz="1800" dirty="0">
                <a:solidFill>
                  <a:srgbClr val="000000"/>
                </a:solidFill>
              </a:rPr>
              <a:t>: Cho biết giao thức gốc (</a:t>
            </a:r>
            <a:r>
              <a:rPr lang="vi-VN" sz="1800" b="1" dirty="0">
                <a:solidFill>
                  <a:srgbClr val="000000"/>
                </a:solidFill>
              </a:rPr>
              <a:t>http</a:t>
            </a:r>
            <a:r>
              <a:rPr lang="vi-VN" sz="1800" dirty="0">
                <a:solidFill>
                  <a:srgbClr val="000000"/>
                </a:solidFill>
              </a:rPr>
              <a:t> hoặc </a:t>
            </a:r>
            <a:r>
              <a:rPr lang="vi-VN" sz="1800" b="1" dirty="0">
                <a:solidFill>
                  <a:srgbClr val="000000"/>
                </a:solidFill>
              </a:rPr>
              <a:t>https</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Kiểm chứng: </a:t>
            </a:r>
            <a:r>
              <a:rPr lang="vi-VN" sz="1800" dirty="0">
                <a:solidFill>
                  <a:srgbClr val="000000"/>
                </a:solidFill>
              </a:rPr>
              <a:t>Gọi </a:t>
            </a:r>
            <a:r>
              <a:rPr lang="vi-VN" sz="1800" b="1" dirty="0">
                <a:solidFill>
                  <a:srgbClr val="000000"/>
                </a:solidFill>
              </a:rPr>
              <a:t>GET /api/server-info</a:t>
            </a:r>
            <a:r>
              <a:rPr lang="vi-VN" sz="1800" dirty="0">
                <a:solidFill>
                  <a:srgbClr val="000000"/>
                </a:solidFill>
              </a:rPr>
              <a:t> → xem trường </a:t>
            </a:r>
            <a:r>
              <a:rPr lang="vi-VN" sz="1800" b="1" dirty="0">
                <a:solidFill>
                  <a:srgbClr val="000000"/>
                </a:solidFill>
              </a:rPr>
              <a:t>receivedHeaders</a:t>
            </a:r>
            <a:r>
              <a:rPr lang="vi-VN" sz="1800" dirty="0">
                <a:solidFill>
                  <a:srgbClr val="000000"/>
                </a:solidFill>
              </a:rPr>
              <a:t> trên giao diện.</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Ranh giới tin cậy: </a:t>
            </a:r>
            <a:r>
              <a:rPr lang="vi-VN" sz="1800" dirty="0">
                <a:solidFill>
                  <a:srgbClr val="000000"/>
                </a:solidFill>
              </a:rPr>
              <a:t>Chỉ tin cậy các header này khi mạng proxy được cấu hình bảo mật.</a:t>
            </a:r>
            <a:endParaRPr lang="vi-VN" sz="1800" dirty="0">
              <a:solidFill>
                <a:srgbClr val="000000"/>
              </a:solidFill>
            </a:endParaRPr>
          </a:p>
        </p:txBody>
      </p:sp>
      <p:pic>
        <p:nvPicPr>
          <p:cNvPr id="12" name="Hình ảnh 11"/>
          <p:cNvPicPr>
            <a:picLocks noChangeAspect="1"/>
          </p:cNvPicPr>
          <p:nvPr/>
        </p:nvPicPr>
        <p:blipFill>
          <a:blip r:embed="rId2"/>
          <a:stretch>
            <a:fillRect/>
          </a:stretch>
        </p:blipFill>
        <p:spPr>
          <a:xfrm>
            <a:off x="6976110" y="1235075"/>
            <a:ext cx="3739515" cy="4387215"/>
          </a:xfrm>
          <a:prstGeom prst="rect">
            <a:avLst/>
          </a:prstGeom>
        </p:spPr>
      </p:pic>
      <p:pic>
        <p:nvPicPr>
          <p:cNvPr id="10" name="Hình ảnh 9"/>
          <p:cNvPicPr>
            <a:picLocks noChangeAspect="1"/>
          </p:cNvPicPr>
          <p:nvPr/>
        </p:nvPicPr>
        <p:blipFill>
          <a:blip r:embed="rId3"/>
          <a:stretch>
            <a:fillRect/>
          </a:stretch>
        </p:blipFill>
        <p:spPr>
          <a:xfrm>
            <a:off x="457200" y="4714875"/>
            <a:ext cx="3674110" cy="4191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6. Demo 3 - Kiến trúc hai Backend Luma Store</a:t>
            </a:r>
            <a:endParaRPr lang="vi-VN" sz="2400" b="1" dirty="0">
              <a:solidFill>
                <a:srgbClr val="FFFFFF"/>
              </a:solidFill>
            </a:endParaRPr>
          </a:p>
        </p:txBody>
      </p:sp>
      <p:sp>
        <p:nvSpPr>
          <p:cNvPr id="9" name="TextBox 8"/>
          <p:cNvSpPr txBox="1"/>
          <p:nvPr/>
        </p:nvSpPr>
        <p:spPr>
          <a:xfrm>
            <a:off x="457200" y="1299845"/>
            <a:ext cx="10858500" cy="4599940"/>
          </a:xfrm>
          <a:prstGeom prst="rect">
            <a:avLst/>
          </a:prstGeom>
          <a:noFill/>
        </p:spPr>
        <p:txBody>
          <a:bodyPr wrap="square" lIns="0" tIns="0" rIns="0" bIns="0">
            <a:noAutofit/>
          </a:bodyPr>
          <a:lstStyle/>
          <a:p>
            <a:pPr algn="l"/>
            <a:r>
              <a:rPr lang="vi-VN" sz="1800" b="1" dirty="0">
                <a:solidFill>
                  <a:srgbClr val="000000"/>
                </a:solidFill>
              </a:rPr>
              <a:t>Demo 3 – Kiến trúc cụm Backend trong Luma Store</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Luồng đi: </a:t>
            </a:r>
            <a:r>
              <a:rPr lang="vi-VN" sz="1800" dirty="0">
                <a:solidFill>
                  <a:srgbClr val="000000"/>
                </a:solidFill>
              </a:rPr>
              <a:t>Client → NGINX (cổng </a:t>
            </a:r>
            <a:r>
              <a:rPr lang="vi-VN" sz="1800" b="1" dirty="0">
                <a:solidFill>
                  <a:srgbClr val="000000"/>
                </a:solidFill>
              </a:rPr>
              <a:t>8080</a:t>
            </a:r>
            <a:r>
              <a:rPr lang="vi-VN" sz="1800" dirty="0">
                <a:solidFill>
                  <a:srgbClr val="000000"/>
                </a:solidFill>
              </a:rPr>
              <a:t>) → upstream </a:t>
            </a:r>
            <a:r>
              <a:rPr lang="vi-VN" sz="1800" b="1" dirty="0">
                <a:solidFill>
                  <a:srgbClr val="000000"/>
                </a:solidFill>
              </a:rPr>
              <a:t>luma_backend</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Node 1: </a:t>
            </a:r>
            <a:r>
              <a:rPr lang="vi-VN" sz="1800" b="1" dirty="0">
                <a:solidFill>
                  <a:srgbClr val="000000"/>
                </a:solidFill>
              </a:rPr>
              <a:t>backend1</a:t>
            </a:r>
            <a:r>
              <a:rPr lang="vi-VN" sz="1800" dirty="0">
                <a:solidFill>
                  <a:srgbClr val="000000"/>
                </a:solidFill>
              </a:rPr>
              <a:t> (SERVER_ID: </a:t>
            </a:r>
            <a:r>
              <a:rPr lang="vi-VN" sz="1800" b="1" dirty="0">
                <a:solidFill>
                  <a:srgbClr val="000000"/>
                </a:solidFill>
              </a:rPr>
              <a:t>BACKEND-01</a:t>
            </a:r>
            <a:r>
              <a:rPr lang="vi-VN" sz="1800" dirty="0">
                <a:solidFill>
                  <a:srgbClr val="000000"/>
                </a:solidFill>
              </a:rPr>
              <a:t>, cổng nội bộ 8080, host port 5001).</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Node 2: </a:t>
            </a:r>
            <a:r>
              <a:rPr lang="vi-VN" sz="1800" b="1" dirty="0">
                <a:solidFill>
                  <a:srgbClr val="000000"/>
                </a:solidFill>
              </a:rPr>
              <a:t>backend2</a:t>
            </a:r>
            <a:r>
              <a:rPr lang="vi-VN" sz="1800" dirty="0">
                <a:solidFill>
                  <a:srgbClr val="000000"/>
                </a:solidFill>
              </a:rPr>
              <a:t> (SERVER_ID: </a:t>
            </a:r>
            <a:r>
              <a:rPr lang="vi-VN" sz="1800" b="1" dirty="0">
                <a:solidFill>
                  <a:srgbClr val="000000"/>
                </a:solidFill>
              </a:rPr>
              <a:t>BACKEND-02</a:t>
            </a:r>
            <a:r>
              <a:rPr lang="vi-VN" sz="1800" dirty="0">
                <a:solidFill>
                  <a:srgbClr val="000000"/>
                </a:solidFill>
              </a:rPr>
              <a:t>, cổng nội bộ 8080, host port 5002).</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Dữ liệu nhất quán: </a:t>
            </a:r>
            <a:r>
              <a:rPr lang="vi-VN" sz="1800" dirty="0">
                <a:solidFill>
                  <a:srgbClr val="000000"/>
                </a:solidFill>
              </a:rPr>
              <a:t>Cả hai cùng kết nối </a:t>
            </a:r>
            <a:r>
              <a:rPr lang="vi-VN" sz="1800" b="1" dirty="0">
                <a:solidFill>
                  <a:srgbClr val="000000"/>
                </a:solidFill>
              </a:rPr>
              <a:t>MySQL</a:t>
            </a:r>
            <a:r>
              <a:rPr lang="vi-VN" sz="1800" dirty="0">
                <a:solidFill>
                  <a:srgbClr val="000000"/>
                </a:solidFill>
              </a:rPr>
              <a:t> và volume </a:t>
            </a:r>
            <a:r>
              <a:rPr lang="vi-VN" sz="1800" b="1" dirty="0">
                <a:solidFill>
                  <a:srgbClr val="000000"/>
                </a:solidFill>
              </a:rPr>
              <a:t>uploads</a:t>
            </a:r>
            <a:r>
              <a:rPr lang="vi-VN" sz="1800" dirty="0">
                <a:solidFill>
                  <a:srgbClr val="000000"/>
                </a:solidFill>
              </a:rPr>
              <a:t> chung.</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Định nghĩa Upstream: </a:t>
            </a:r>
            <a:r>
              <a:rPr lang="vi-VN" sz="1800" dirty="0">
                <a:solidFill>
                  <a:srgbClr val="000000"/>
                </a:solidFill>
              </a:rPr>
              <a:t>Khối NGINX gom nhóm nhiều backend để phân phối tải.</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1724025" y="3532505"/>
            <a:ext cx="8523605" cy="8058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7. Demo 3 - Cấu hình Upstream &amp; Cân bằng tải</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Cấu hình Upstream trong </a:t>
            </a:r>
            <a:r>
              <a:rPr lang="vi-VN" sz="1800" b="1" dirty="0">
                <a:solidFill>
                  <a:srgbClr val="000000"/>
                </a:solidFill>
              </a:rPr>
              <a:t>nginx/stages/3.conf</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Khối upstream: </a:t>
            </a:r>
            <a:r>
              <a:rPr lang="vi-VN" sz="1800" b="1" dirty="0">
                <a:solidFill>
                  <a:srgbClr val="000000"/>
                </a:solidFill>
              </a:rPr>
              <a:t>upstream luma_backend { server backend1:8080; server backend2:8080; }</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Chuyển tiếp: </a:t>
            </a:r>
            <a:r>
              <a:rPr lang="vi-VN" sz="1800" b="1" dirty="0">
                <a:solidFill>
                  <a:srgbClr val="000000"/>
                </a:solidFill>
              </a:rPr>
              <a:t>location /api/ { proxy_pass http://luma_backend; }</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Thuật toán mặc định: </a:t>
            </a:r>
            <a:r>
              <a:rPr lang="vi-VN" sz="1800" b="1" dirty="0">
                <a:solidFill>
                  <a:srgbClr val="000000"/>
                </a:solidFill>
              </a:rPr>
              <a:t>Round Robin</a:t>
            </a:r>
            <a:r>
              <a:rPr lang="vi-VN" sz="1800" dirty="0">
                <a:solidFill>
                  <a:srgbClr val="000000"/>
                </a:solidFill>
              </a:rPr>
              <a:t> (phân phối request tuần tự xoay vòng).</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Cơ chế kiểm tra lỗi: </a:t>
            </a:r>
            <a:r>
              <a:rPr lang="vi-VN" sz="1800" b="1" dirty="0">
                <a:solidFill>
                  <a:srgbClr val="000000"/>
                </a:solidFill>
              </a:rPr>
              <a:t>max_fails=1 fail_timeout=3s</a:t>
            </a:r>
            <a:r>
              <a:rPr lang="vi-VN" sz="1800" dirty="0">
                <a:solidFill>
                  <a:srgbClr val="000000"/>
                </a:solidFill>
              </a:rPr>
              <a:t> (tạm ngắt node gặp sự cố).</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Mở rộng: </a:t>
            </a:r>
            <a:r>
              <a:rPr lang="vi-VN" sz="1800" dirty="0">
                <a:solidFill>
                  <a:srgbClr val="000000"/>
                </a:solidFill>
              </a:rPr>
              <a:t>Có thể gán trọng số </a:t>
            </a:r>
            <a:r>
              <a:rPr lang="vi-VN" sz="1800" b="1" dirty="0">
                <a:solidFill>
                  <a:srgbClr val="000000"/>
                </a:solidFill>
              </a:rPr>
              <a:t>weight=2</a:t>
            </a:r>
            <a:r>
              <a:rPr lang="vi-VN" sz="1800" dirty="0">
                <a:solidFill>
                  <a:srgbClr val="000000"/>
                </a:solidFill>
              </a:rPr>
              <a:t> hoặc dùng giải thuật </a:t>
            </a:r>
            <a:r>
              <a:rPr lang="vi-VN" sz="1800" b="1" dirty="0">
                <a:solidFill>
                  <a:srgbClr val="000000"/>
                </a:solidFill>
              </a:rPr>
              <a:t>least_conn</a:t>
            </a:r>
            <a:r>
              <a:rPr lang="vi-VN" sz="1800" dirty="0">
                <a:solidFill>
                  <a:srgbClr val="000000"/>
                </a:solidFill>
              </a:rPr>
              <a:t>.</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5657215" y="1257300"/>
            <a:ext cx="5111115" cy="394081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8. Demo 3 - Bằng chứng Phân phối tải thực tế</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3 – Bằng chứng Phân phối tải thực tế</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Thực nghiệm: </a:t>
            </a:r>
            <a:r>
              <a:rPr lang="vi-VN" sz="1800" dirty="0">
                <a:solidFill>
                  <a:srgbClr val="000000"/>
                </a:solidFill>
              </a:rPr>
              <a:t>Bấm 'Gọi 20 request' đến </a:t>
            </a:r>
            <a:r>
              <a:rPr lang="vi-VN" sz="1800" b="1" dirty="0">
                <a:solidFill>
                  <a:srgbClr val="000000"/>
                </a:solidFill>
              </a:rPr>
              <a:t>GET /api/server-info</a:t>
            </a:r>
            <a:r>
              <a:rPr lang="vi-VN" sz="1800" dirty="0">
                <a:solidFill>
                  <a:srgbClr val="000000"/>
                </a:solidFill>
              </a:rPr>
              <a:t> trên </a:t>
            </a:r>
            <a:r>
              <a:rPr lang="vi-VN" sz="1800" b="1" dirty="0">
                <a:solidFill>
                  <a:srgbClr val="000000"/>
                </a:solidFill>
              </a:rPr>
              <a:t>demo.html</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Mã nhận diện: </a:t>
            </a:r>
            <a:r>
              <a:rPr lang="vi-VN" sz="1800" dirty="0">
                <a:solidFill>
                  <a:srgbClr val="000000"/>
                </a:solidFill>
              </a:rPr>
              <a:t>Quan sát ID phản hồi luân phiên: </a:t>
            </a:r>
            <a:r>
              <a:rPr lang="vi-VN" sz="1800" b="1" dirty="0">
                <a:solidFill>
                  <a:srgbClr val="000000"/>
                </a:solidFill>
              </a:rPr>
              <a:t>BACKEND-01</a:t>
            </a:r>
            <a:r>
              <a:rPr lang="vi-VN" sz="1800" dirty="0">
                <a:solidFill>
                  <a:srgbClr val="000000"/>
                </a:solidFill>
              </a:rPr>
              <a:t> và </a:t>
            </a:r>
            <a:r>
              <a:rPr lang="vi-VN" sz="1800" b="1" dirty="0">
                <a:solidFill>
                  <a:srgbClr val="000000"/>
                </a:solidFill>
              </a:rPr>
              <a:t>BACKEND-02</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Bộ đếm thống kê: </a:t>
            </a:r>
            <a:r>
              <a:rPr lang="vi-VN" sz="1800" dirty="0">
                <a:solidFill>
                  <a:srgbClr val="000000"/>
                </a:solidFill>
              </a:rPr>
              <a:t>Bảng đếm ghi nhận số lượng request chia đều cho 2 node.</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Log kiểm chứng: </a:t>
            </a:r>
            <a:r>
              <a:rPr lang="vi-VN" sz="1800" dirty="0">
                <a:solidFill>
                  <a:srgbClr val="000000"/>
                </a:solidFill>
              </a:rPr>
              <a:t>Console từng container backend ghi nhận request luân phiên.</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Đồng bộ nghiệp vụ: </a:t>
            </a:r>
            <a:r>
              <a:rPr lang="vi-VN" sz="1800" dirty="0">
                <a:solidFill>
                  <a:srgbClr val="000000"/>
                </a:solidFill>
              </a:rPr>
              <a:t>Thao tác sản phẩm/tồn kho nhất quán vì cùng dùng chung MySQL.</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5805170" y="1070610"/>
            <a:ext cx="4672965" cy="50812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9. Demo 4 - Đóng gói Docker &amp; Docker Network DNS</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4 – Docker Network và DNS nội bộ</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Mạng Docker: </a:t>
            </a:r>
            <a:r>
              <a:rPr lang="vi-VN" sz="1800" dirty="0">
                <a:solidFill>
                  <a:srgbClr val="000000"/>
                </a:solidFill>
              </a:rPr>
              <a:t>Tất cả service nằm chung bridge network </a:t>
            </a:r>
            <a:r>
              <a:rPr lang="vi-VN" sz="1800" b="1" dirty="0">
                <a:solidFill>
                  <a:srgbClr val="000000"/>
                </a:solidFill>
              </a:rPr>
              <a:t>demo</a:t>
            </a:r>
            <a:r>
              <a:rPr lang="vi-VN" sz="1800" dirty="0">
                <a:solidFill>
                  <a:srgbClr val="000000"/>
                </a:solidFill>
              </a:rPr>
              <a:t> trong </a:t>
            </a:r>
            <a:r>
              <a:rPr lang="vi-VN" sz="1800" b="1" dirty="0">
                <a:solidFill>
                  <a:srgbClr val="000000"/>
                </a:solidFill>
              </a:rPr>
              <a:t>compose.yaml</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Bản chất localhost: </a:t>
            </a:r>
            <a:r>
              <a:rPr lang="vi-VN" sz="1800" dirty="0">
                <a:solidFill>
                  <a:srgbClr val="000000"/>
                </a:solidFill>
              </a:rPr>
              <a:t>Trong container, </a:t>
            </a:r>
            <a:r>
              <a:rPr lang="vi-VN" sz="1800" b="1" dirty="0">
                <a:solidFill>
                  <a:srgbClr val="000000"/>
                </a:solidFill>
              </a:rPr>
              <a:t>localhost</a:t>
            </a:r>
            <a:r>
              <a:rPr lang="vi-VN" sz="1800" dirty="0">
                <a:solidFill>
                  <a:srgbClr val="000000"/>
                </a:solidFill>
              </a:rPr>
              <a:t> trỏ về chính nó, không phải host.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Docker DNS: </a:t>
            </a:r>
            <a:r>
              <a:rPr lang="vi-VN" sz="1800" dirty="0">
                <a:solidFill>
                  <a:srgbClr val="000000"/>
                </a:solidFill>
              </a:rPr>
              <a:t>NGINX phân giải tên service </a:t>
            </a:r>
            <a:r>
              <a:rPr lang="vi-VN" sz="1800" b="1" dirty="0">
                <a:solidFill>
                  <a:srgbClr val="000000"/>
                </a:solidFill>
              </a:rPr>
              <a:t>backend1:8080</a:t>
            </a:r>
            <a:r>
              <a:rPr lang="vi-VN" sz="1800" dirty="0">
                <a:solidFill>
                  <a:srgbClr val="000000"/>
                </a:solidFill>
              </a:rPr>
              <a:t> thành IP container tự động.</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Kiểm chứng dịch vụ: </a:t>
            </a:r>
            <a:r>
              <a:rPr lang="vi-VN" sz="1800" dirty="0">
                <a:solidFill>
                  <a:srgbClr val="000000"/>
                </a:solidFill>
              </a:rPr>
              <a:t>Chạy lệnh </a:t>
            </a:r>
            <a:r>
              <a:rPr lang="vi-VN" sz="1800" b="1" dirty="0">
                <a:solidFill>
                  <a:srgbClr val="000000"/>
                </a:solidFill>
              </a:rPr>
              <a:t>docker compose ps</a:t>
            </a:r>
            <a:r>
              <a:rPr lang="vi-VN" sz="1800" dirty="0">
                <a:solidFill>
                  <a:srgbClr val="000000"/>
                </a:solidFill>
              </a:rPr>
              <a:t> và </a:t>
            </a:r>
            <a:r>
              <a:rPr lang="vi-VN" sz="1800" b="1" dirty="0">
                <a:solidFill>
                  <a:srgbClr val="000000"/>
                </a:solidFill>
              </a:rPr>
              <a:t>docker compose config</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Ánh xạ cổng: </a:t>
            </a:r>
            <a:r>
              <a:rPr lang="vi-VN" sz="1800" dirty="0">
                <a:solidFill>
                  <a:srgbClr val="000000"/>
                </a:solidFill>
              </a:rPr>
              <a:t>Host vào qua </a:t>
            </a:r>
            <a:r>
              <a:rPr lang="vi-VN" sz="1800" b="1" dirty="0">
                <a:solidFill>
                  <a:srgbClr val="000000"/>
                </a:solidFill>
              </a:rPr>
              <a:t>8080</a:t>
            </a:r>
            <a:r>
              <a:rPr lang="vi-VN" sz="1800" dirty="0">
                <a:solidFill>
                  <a:srgbClr val="000000"/>
                </a:solidFill>
              </a:rPr>
              <a:t> (NGINX); backend được gọi qua mạng nội bộ.</a:t>
            </a:r>
            <a:endParaRPr lang="vi-VN" sz="1800" dirty="0">
              <a:solidFill>
                <a:srgbClr val="000000"/>
              </a:solidFill>
            </a:endParaRPr>
          </a:p>
        </p:txBody>
      </p:sp>
      <p:pic>
        <p:nvPicPr>
          <p:cNvPr id="11" name="Hình ảnh 10"/>
          <p:cNvPicPr>
            <a:picLocks noChangeAspect="1"/>
          </p:cNvPicPr>
          <p:nvPr/>
        </p:nvPicPr>
        <p:blipFill>
          <a:blip r:embed="rId2"/>
          <a:stretch>
            <a:fillRect/>
          </a:stretch>
        </p:blipFill>
        <p:spPr>
          <a:xfrm>
            <a:off x="5657215" y="1340485"/>
            <a:ext cx="6390005" cy="2035810"/>
          </a:xfrm>
          <a:prstGeom prst="rect">
            <a:avLst/>
          </a:prstGeom>
        </p:spPr>
      </p:pic>
      <p:pic>
        <p:nvPicPr>
          <p:cNvPr id="12" name="Hình ảnh 11"/>
          <p:cNvPicPr>
            <a:picLocks noChangeAspect="1"/>
          </p:cNvPicPr>
          <p:nvPr/>
        </p:nvPicPr>
        <p:blipFill>
          <a:blip r:embed="rId3"/>
          <a:stretch>
            <a:fillRect/>
          </a:stretch>
        </p:blipFill>
        <p:spPr>
          <a:xfrm>
            <a:off x="2064385" y="4450715"/>
            <a:ext cx="9454515" cy="22364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10. Demo 5 - Giới hạn Upload File (client_max_body_size)</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5 – Giới hạn kích thước gói tin Upload</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Stage 3 (</a:t>
            </a:r>
            <a:r>
              <a:rPr lang="vi-VN" sz="1800" b="1" dirty="0">
                <a:solidFill>
                  <a:srgbClr val="000000"/>
                </a:solidFill>
              </a:rPr>
              <a:t>nginx/stages/3.conf</a:t>
            </a:r>
            <a:r>
              <a:rPr lang="vi-VN" sz="1800" dirty="0">
                <a:solidFill>
                  <a:srgbClr val="000000"/>
                </a:solidFill>
              </a:rPr>
              <a:t>): </a:t>
            </a:r>
            <a:r>
              <a:rPr lang="vi-VN" sz="1800" b="1" dirty="0">
                <a:solidFill>
                  <a:srgbClr val="000000"/>
                </a:solidFill>
              </a:rPr>
              <a:t>client_max_body_size 1M;</a:t>
            </a:r>
            <a:r>
              <a:rPr lang="vi-VN" sz="1800" dirty="0">
                <a:solidFill>
                  <a:srgbClr val="000000"/>
                </a:solidFill>
              </a:rPr>
              <a:t> → chặn request &gt; 1MB.</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Lỗi nhận về: </a:t>
            </a:r>
            <a:r>
              <a:rPr lang="vi-VN" sz="1800" dirty="0">
                <a:solidFill>
                  <a:srgbClr val="000000"/>
                </a:solidFill>
              </a:rPr>
              <a:t>NGINX trả </a:t>
            </a:r>
            <a:r>
              <a:rPr lang="vi-VN" sz="1800" b="1" dirty="0">
                <a:solidFill>
                  <a:srgbClr val="000000"/>
                </a:solidFill>
              </a:rPr>
              <a:t>413 Request Entity Too Large</a:t>
            </a:r>
            <a:r>
              <a:rPr lang="vi-VN" sz="1800" dirty="0">
                <a:solidFill>
                  <a:srgbClr val="000000"/>
                </a:solidFill>
              </a:rPr>
              <a:t> ngay từ cửa vào.</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Stage 4 (</a:t>
            </a:r>
            <a:r>
              <a:rPr lang="vi-VN" sz="1800" b="1" dirty="0">
                <a:solidFill>
                  <a:srgbClr val="000000"/>
                </a:solidFill>
              </a:rPr>
              <a:t>nginx/stages/4.conf</a:t>
            </a:r>
            <a:r>
              <a:rPr lang="vi-VN" sz="1800" dirty="0">
                <a:solidFill>
                  <a:srgbClr val="000000"/>
                </a:solidFill>
              </a:rPr>
              <a:t>): Nâng </a:t>
            </a:r>
            <a:r>
              <a:rPr lang="vi-VN" sz="1800" b="1" dirty="0">
                <a:solidFill>
                  <a:srgbClr val="000000"/>
                </a:solidFill>
              </a:rPr>
              <a:t>client_max_body_size 20M;</a:t>
            </a:r>
            <a:r>
              <a:rPr lang="vi-VN" sz="1800" dirty="0">
                <a:solidFill>
                  <a:srgbClr val="000000"/>
                </a:solidFill>
              </a:rPr>
              <a:t> → upload thành công.</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Giới hạn backend: </a:t>
            </a:r>
            <a:r>
              <a:rPr lang="vi-VN" sz="1800" dirty="0">
                <a:solidFill>
                  <a:srgbClr val="000000"/>
                </a:solidFill>
              </a:rPr>
              <a:t>Backend kiểm soát file tối đa </a:t>
            </a:r>
            <a:r>
              <a:rPr lang="vi-VN" sz="1800" b="1" dirty="0">
                <a:solidFill>
                  <a:srgbClr val="000000"/>
                </a:solidFill>
              </a:rPr>
              <a:t>8 MB</a:t>
            </a:r>
            <a:r>
              <a:rPr lang="vi-VN" sz="1800" dirty="0">
                <a:solidFill>
                  <a:srgbClr val="000000"/>
                </a:solidFill>
              </a:rPr>
              <a:t> (Multer) độc lập với NGINX.</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Thực nghiệm: </a:t>
            </a:r>
            <a:r>
              <a:rPr lang="vi-VN" sz="1800" dirty="0">
                <a:solidFill>
                  <a:srgbClr val="000000"/>
                </a:solidFill>
              </a:rPr>
              <a:t>Dùng ảnh </a:t>
            </a:r>
            <a:r>
              <a:rPr lang="vi-VN" sz="1800" b="1" dirty="0">
                <a:solidFill>
                  <a:srgbClr val="000000"/>
                </a:solidFill>
              </a:rPr>
              <a:t>~1.7 MB</a:t>
            </a:r>
            <a:r>
              <a:rPr lang="vi-VN" sz="1800" dirty="0">
                <a:solidFill>
                  <a:srgbClr val="000000"/>
                </a:solidFill>
              </a:rPr>
              <a:t> đối chiếu kết quả giữa Stage 3 và Stage 4.</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5801995" y="1158240"/>
            <a:ext cx="5944870" cy="3757930"/>
          </a:xfrm>
          <a:prstGeom prst="rect">
            <a:avLst/>
          </a:prstGeom>
        </p:spPr>
      </p:pic>
      <p:sp>
        <p:nvSpPr>
          <p:cNvPr id="11" name="Hộp văn bản 10"/>
          <p:cNvSpPr txBox="1"/>
          <p:nvPr/>
        </p:nvSpPr>
        <p:spPr>
          <a:xfrm>
            <a:off x="10584180" y="6604000"/>
            <a:ext cx="4064000" cy="368300"/>
          </a:xfrm>
          <a:prstGeom prst="rect">
            <a:avLst/>
          </a:prstGeom>
          <a:noFill/>
        </p:spPr>
        <p:txBody>
          <a:bodyPr wrap="square" rtlCol="0">
            <a:spAutoFit/>
          </a:bodyPr>
          <a:p>
            <a:endParaRPr lang="vi-V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11. Demo 6 - Giả lập Domain thật với File Hosts</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6 – Định danh Domain với File Hosts</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Tên miền dự án: </a:t>
            </a:r>
            <a:r>
              <a:rPr lang="vi-VN" sz="1800" b="1" dirty="0">
                <a:solidFill>
                  <a:srgbClr val="000000"/>
                </a:solidFill>
              </a:rPr>
              <a:t>luma.test</a:t>
            </a:r>
            <a:r>
              <a:rPr lang="vi-VN" sz="1800" dirty="0">
                <a:solidFill>
                  <a:srgbClr val="000000"/>
                </a:solidFill>
              </a:rPr>
              <a:t> (khai báo </a:t>
            </a:r>
            <a:r>
              <a:rPr lang="vi-VN" sz="1800" b="1" dirty="0">
                <a:solidFill>
                  <a:srgbClr val="000000"/>
                </a:solidFill>
              </a:rPr>
              <a:t>server_name luma.test localhost;</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Đường dẫn file hosts: </a:t>
            </a:r>
            <a:r>
              <a:rPr lang="vi-VN" sz="1800" b="1" dirty="0">
                <a:solidFill>
                  <a:srgbClr val="000000"/>
                </a:solidFill>
              </a:rPr>
              <a:t>C:\Windows\System32\drivers\etc\hosts</a:t>
            </a:r>
            <a:r>
              <a:rPr lang="vi-VN" sz="1800" dirty="0">
                <a:solidFill>
                  <a:srgbClr val="000000"/>
                </a:solidFill>
              </a:rPr>
              <a:t> (quyền Admin).</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Bản ghi cấu hình: </a:t>
            </a:r>
            <a:r>
              <a:rPr lang="vi-VN" sz="1800" dirty="0">
                <a:solidFill>
                  <a:srgbClr val="000000"/>
                </a:solidFill>
              </a:rPr>
              <a:t>Thêm dòng </a:t>
            </a:r>
            <a:r>
              <a:rPr lang="vi-VN" sz="1800" b="1" dirty="0">
                <a:solidFill>
                  <a:srgbClr val="000000"/>
                </a:solidFill>
              </a:rPr>
              <a:t>127.0.0.1  luma.test</a:t>
            </a:r>
            <a:r>
              <a:rPr lang="vi-VN" sz="1800" dirty="0">
                <a:solidFill>
                  <a:srgbClr val="000000"/>
                </a:solidFill>
              </a:rPr>
              <a:t> vào file hosts.</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Địa chỉ truy cập: </a:t>
            </a:r>
            <a:r>
              <a:rPr lang="vi-VN" sz="1800" dirty="0">
                <a:solidFill>
                  <a:srgbClr val="000000"/>
                </a:solidFill>
              </a:rPr>
              <a:t>HTTP: </a:t>
            </a:r>
            <a:r>
              <a:rPr lang="vi-VN" sz="1800" b="1" dirty="0">
                <a:solidFill>
                  <a:srgbClr val="000000"/>
                </a:solidFill>
              </a:rPr>
              <a:t>http://luma.test:8080</a:t>
            </a:r>
            <a:r>
              <a:rPr lang="vi-VN" sz="1800" dirty="0">
                <a:solidFill>
                  <a:srgbClr val="000000"/>
                </a:solidFill>
              </a:rPr>
              <a:t> | HTTPS: </a:t>
            </a:r>
            <a:r>
              <a:rPr lang="vi-VN" sz="1800" b="1" dirty="0">
                <a:solidFill>
                  <a:srgbClr val="000000"/>
                </a:solidFill>
              </a:rPr>
              <a:t>https://luma.test:8443</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Khớp định danh: </a:t>
            </a:r>
            <a:r>
              <a:rPr lang="vi-VN" sz="1800" b="1" dirty="0">
                <a:solidFill>
                  <a:srgbClr val="000000"/>
                </a:solidFill>
              </a:rPr>
              <a:t>server_name</a:t>
            </a:r>
            <a:r>
              <a:rPr lang="vi-VN" sz="1800" dirty="0">
                <a:solidFill>
                  <a:srgbClr val="000000"/>
                </a:solidFill>
              </a:rPr>
              <a:t> phải khớp chính xác hostname mà trình duyệt gửi tới.</a:t>
            </a:r>
            <a:endParaRPr lang="vi-VN" sz="1800" dirty="0">
              <a:solidFill>
                <a:srgbClr val="000000"/>
              </a:solidFill>
            </a:endParaRPr>
          </a:p>
        </p:txBody>
      </p:sp>
      <p:pic>
        <p:nvPicPr>
          <p:cNvPr id="11" name="Hình ảnh 10"/>
          <p:cNvPicPr>
            <a:picLocks noChangeAspect="1"/>
          </p:cNvPicPr>
          <p:nvPr/>
        </p:nvPicPr>
        <p:blipFill>
          <a:blip r:embed="rId2"/>
          <a:stretch>
            <a:fillRect/>
          </a:stretch>
        </p:blipFill>
        <p:spPr>
          <a:xfrm>
            <a:off x="5800090" y="2627630"/>
            <a:ext cx="4740910" cy="1333500"/>
          </a:xfrm>
          <a:prstGeom prst="rect">
            <a:avLst/>
          </a:prstGeom>
        </p:spPr>
      </p:pic>
      <p:pic>
        <p:nvPicPr>
          <p:cNvPr id="12" name="Hình ảnh 11"/>
          <p:cNvPicPr>
            <a:picLocks noChangeAspect="1"/>
          </p:cNvPicPr>
          <p:nvPr/>
        </p:nvPicPr>
        <p:blipFill>
          <a:blip r:embed="rId3"/>
          <a:stretch>
            <a:fillRect/>
          </a:stretch>
        </p:blipFill>
        <p:spPr>
          <a:xfrm>
            <a:off x="5800090" y="1831340"/>
            <a:ext cx="2438400" cy="484505"/>
          </a:xfrm>
          <a:prstGeom prst="rect">
            <a:avLst/>
          </a:prstGeom>
        </p:spPr>
      </p:pic>
      <p:pic>
        <p:nvPicPr>
          <p:cNvPr id="13" name="Hình ảnh 12"/>
          <p:cNvPicPr>
            <a:picLocks noChangeAspect="1"/>
          </p:cNvPicPr>
          <p:nvPr/>
        </p:nvPicPr>
        <p:blipFill>
          <a:blip r:embed="rId4"/>
          <a:stretch>
            <a:fillRect/>
          </a:stretch>
        </p:blipFill>
        <p:spPr>
          <a:xfrm>
            <a:off x="5800090" y="1299845"/>
            <a:ext cx="3293110" cy="28321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12. Demo 6 - Mô phỏng HTTPS &amp; Cảnh báo SSL</a:t>
            </a:r>
            <a:endParaRPr lang="vi-VN" sz="2400" b="1" dirty="0">
              <a:solidFill>
                <a:srgbClr val="FFFFFF"/>
              </a:solidFill>
            </a:endParaRPr>
          </a:p>
        </p:txBody>
      </p:sp>
      <p:sp>
        <p:nvSpPr>
          <p:cNvPr id="9" name="TextBox 8"/>
          <p:cNvSpPr txBox="1"/>
          <p:nvPr/>
        </p:nvSpPr>
        <p:spPr>
          <a:xfrm>
            <a:off x="457200" y="1300000"/>
            <a:ext cx="5200000" cy="4600000"/>
          </a:xfrm>
          <a:prstGeom prst="rect">
            <a:avLst/>
          </a:prstGeom>
          <a:noFill/>
        </p:spPr>
        <p:txBody>
          <a:bodyPr wrap="square" lIns="0" tIns="0" rIns="0" bIns="0">
            <a:noAutofit/>
          </a:bodyPr>
          <a:lstStyle/>
          <a:p>
            <a:pPr algn="l"/>
            <a:r>
              <a:rPr lang="vi-VN" sz="1800" b="1" dirty="0">
                <a:solidFill>
                  <a:srgbClr val="000000"/>
                </a:solidFill>
              </a:rPr>
              <a:t>Demo 6 – HTTPS và Certificate Trust trong </a:t>
            </a:r>
            <a:r>
              <a:rPr lang="vi-VN" sz="1800" b="1" dirty="0">
                <a:solidFill>
                  <a:srgbClr val="000000"/>
                </a:solidFill>
              </a:rPr>
              <a:t>nginx/stages/5.conf</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Chứng chỉ tự ký: </a:t>
            </a:r>
            <a:r>
              <a:rPr lang="vi-VN" sz="1800" dirty="0">
                <a:solidFill>
                  <a:srgbClr val="000000"/>
                </a:solidFill>
              </a:rPr>
              <a:t>Tạo bằng OpenSSL lưu tại </a:t>
            </a:r>
            <a:r>
              <a:rPr lang="vi-VN" sz="1800" b="1" dirty="0">
                <a:solidFill>
                  <a:srgbClr val="000000"/>
                </a:solidFill>
              </a:rPr>
              <a:t>nginx/certs/luma.crt</a:t>
            </a:r>
            <a:r>
              <a:rPr lang="vi-VN" sz="1800" dirty="0">
                <a:solidFill>
                  <a:srgbClr val="000000"/>
                </a:solidFill>
              </a:rPr>
              <a:t> và </a:t>
            </a:r>
            <a:r>
              <a:rPr lang="vi-VN" sz="1800" b="1" dirty="0">
                <a:solidFill>
                  <a:srgbClr val="000000"/>
                </a:solidFill>
              </a:rPr>
              <a:t>luma.key</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Cấu hình SSL: </a:t>
            </a:r>
            <a:r>
              <a:rPr lang="vi-VN" sz="1800" b="1" dirty="0">
                <a:solidFill>
                  <a:srgbClr val="000000"/>
                </a:solidFill>
              </a:rPr>
              <a:t>listen 443 ssl; ssl_certificate /etc/nginx/certs/luma.crt;</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Cảnh báo trình duyệt: </a:t>
            </a:r>
            <a:r>
              <a:rPr lang="vi-VN" sz="1800" dirty="0">
                <a:solidFill>
                  <a:srgbClr val="000000"/>
                </a:solidFill>
              </a:rPr>
              <a:t>Báo 'Not Secure' vì chứng chỉ chưa thuộc </a:t>
            </a:r>
            <a:r>
              <a:rPr lang="vi-VN" sz="1800" b="1" dirty="0">
                <a:solidFill>
                  <a:srgbClr val="000000"/>
                </a:solidFill>
              </a:rPr>
              <a:t>Root CA Trust Store</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Bản chất an toàn: </a:t>
            </a:r>
            <a:r>
              <a:rPr lang="vi-VN" sz="1800" dirty="0">
                <a:solidFill>
                  <a:srgbClr val="000000"/>
                </a:solidFill>
              </a:rPr>
              <a:t>Đường truyền đã được </a:t>
            </a:r>
            <a:r>
              <a:rPr lang="vi-VN" sz="1800" b="1" dirty="0">
                <a:solidFill>
                  <a:srgbClr val="000000"/>
                </a:solidFill>
              </a:rPr>
              <a:t>mã hóa TLS</a:t>
            </a:r>
            <a:r>
              <a:rPr lang="vi-VN" sz="1800" dirty="0">
                <a:solidFill>
                  <a:srgbClr val="000000"/>
                </a:solidFill>
              </a:rPr>
              <a:t> dù chưa có xác thực CA công cộng.</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Môi trường thực tế: </a:t>
            </a:r>
            <a:r>
              <a:rPr lang="vi-VN" sz="1800" dirty="0">
                <a:solidFill>
                  <a:srgbClr val="000000"/>
                </a:solidFill>
              </a:rPr>
              <a:t>Sử dụng </a:t>
            </a:r>
            <a:r>
              <a:rPr lang="vi-VN" sz="1800" b="1" dirty="0">
                <a:solidFill>
                  <a:srgbClr val="000000"/>
                </a:solidFill>
              </a:rPr>
              <a:t>Certbot / Let's Encrypt</a:t>
            </a:r>
            <a:r>
              <a:rPr lang="vi-VN" sz="1800" dirty="0">
                <a:solidFill>
                  <a:srgbClr val="000000"/>
                </a:solidFill>
              </a:rPr>
              <a:t> để cấp phát chứng chỉ CA tin cậy.</a:t>
            </a:r>
            <a:endParaRPr lang="vi-VN" sz="1800" dirty="0">
              <a:solidFill>
                <a:srgbClr val="000000"/>
              </a:solidFill>
            </a:endParaRPr>
          </a:p>
        </p:txBody>
      </p:sp>
      <p:pic>
        <p:nvPicPr>
          <p:cNvPr id="10" name="Hình ảnh 9"/>
          <p:cNvPicPr>
            <a:picLocks noChangeAspect="1"/>
          </p:cNvPicPr>
          <p:nvPr/>
        </p:nvPicPr>
        <p:blipFill>
          <a:blip r:embed="rId2"/>
          <a:stretch>
            <a:fillRect/>
          </a:stretch>
        </p:blipFill>
        <p:spPr>
          <a:xfrm>
            <a:off x="5795645" y="2211070"/>
            <a:ext cx="5767705" cy="3277870"/>
          </a:xfrm>
          <a:prstGeom prst="rect">
            <a:avLst/>
          </a:prstGeom>
        </p:spPr>
      </p:pic>
      <p:pic>
        <p:nvPicPr>
          <p:cNvPr id="11" name="Hình ảnh 10"/>
          <p:cNvPicPr>
            <a:picLocks noChangeAspect="1"/>
          </p:cNvPicPr>
          <p:nvPr/>
        </p:nvPicPr>
        <p:blipFill>
          <a:blip r:embed="rId3"/>
          <a:stretch>
            <a:fillRect/>
          </a:stretch>
        </p:blipFill>
        <p:spPr>
          <a:xfrm>
            <a:off x="6096000" y="1696085"/>
            <a:ext cx="3293110" cy="40830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5: TỔNG KẾT &amp; ĐÁNH GIÁ KIẾN TRÚC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1. Toàn cảnh Kiến trúc Luma Store sau Tối ưu</a:t>
            </a:r>
            <a:endParaRPr lang="vi-VN" sz="2400" b="1" dirty="0">
              <a:solidFill>
                <a:srgbClr val="FFFFFF"/>
              </a:solidFill>
            </a:endParaRPr>
          </a:p>
        </p:txBody>
      </p:sp>
      <p:sp>
        <p:nvSpPr>
          <p:cNvPr id="9" name="TextBox 8"/>
          <p:cNvSpPr txBox="1"/>
          <p:nvPr/>
        </p:nvSpPr>
        <p:spPr>
          <a:xfrm>
            <a:off x="457200" y="1299845"/>
            <a:ext cx="10607675" cy="2205355"/>
          </a:xfrm>
          <a:prstGeom prst="rect">
            <a:avLst/>
          </a:prstGeom>
          <a:noFill/>
        </p:spPr>
        <p:txBody>
          <a:bodyPr wrap="square" lIns="0" tIns="0" rIns="0" bIns="0">
            <a:noAutofit/>
          </a:bodyPr>
          <a:lstStyle/>
          <a:p>
            <a:pPr algn="l"/>
            <a:r>
              <a:rPr lang="vi-VN" sz="1800" b="1" dirty="0">
                <a:solidFill>
                  <a:srgbClr val="000000"/>
                </a:solidFill>
              </a:rPr>
              <a:t>Kiến trúc Luma Store sau khi triển khai NGINX</a:t>
            </a:r>
            <a:endParaRPr lang="vi-VN" sz="1800" b="1" dirty="0">
              <a:solidFill>
                <a:srgbClr val="000000"/>
              </a:solidFill>
            </a:endParaRPr>
          </a:p>
          <a:p>
            <a:pPr marL="250190" indent="-250190" algn="l"/>
            <a:r>
              <a:rPr lang="vi-VN" sz="1800" b="1" dirty="0">
                <a:solidFill>
                  <a:srgbClr val="000000"/>
                </a:solidFill>
              </a:rPr>
              <a:t>▸ </a:t>
            </a:r>
            <a:r>
              <a:rPr lang="vi-VN" sz="1800" dirty="0">
                <a:solidFill>
                  <a:srgbClr val="000000"/>
                </a:solidFill>
              </a:rPr>
              <a:t>Cửa ngõ Gateway: </a:t>
            </a:r>
            <a:r>
              <a:rPr lang="vi-VN" sz="1800" dirty="0">
                <a:solidFill>
                  <a:srgbClr val="000000"/>
                </a:solidFill>
              </a:rPr>
              <a:t>NGINX phục vụ Frontend tĩnh và tiếp nhận định tuyến </a:t>
            </a:r>
            <a:r>
              <a:rPr lang="vi-VN" sz="1800" b="1" dirty="0">
                <a:solidFill>
                  <a:srgbClr val="000000"/>
                </a:solidFill>
              </a:rPr>
              <a:t>/api/</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Cân bằng tải: </a:t>
            </a:r>
            <a:r>
              <a:rPr lang="vi-VN" sz="1800" dirty="0">
                <a:solidFill>
                  <a:srgbClr val="000000"/>
                </a:solidFill>
              </a:rPr>
              <a:t>Upstream </a:t>
            </a:r>
            <a:r>
              <a:rPr lang="vi-VN" sz="1800" b="1" dirty="0">
                <a:solidFill>
                  <a:srgbClr val="000000"/>
                </a:solidFill>
              </a:rPr>
              <a:t>luma_backend</a:t>
            </a:r>
            <a:r>
              <a:rPr lang="vi-VN" sz="1800" dirty="0">
                <a:solidFill>
                  <a:srgbClr val="000000"/>
                </a:solidFill>
              </a:rPr>
              <a:t> điều phối tải qua </a:t>
            </a:r>
            <a:r>
              <a:rPr lang="vi-VN" sz="1800" b="1" dirty="0">
                <a:solidFill>
                  <a:srgbClr val="000000"/>
                </a:solidFill>
              </a:rPr>
              <a:t>backend1</a:t>
            </a:r>
            <a:r>
              <a:rPr lang="vi-VN" sz="1800" dirty="0">
                <a:solidFill>
                  <a:srgbClr val="000000"/>
                </a:solidFill>
              </a:rPr>
              <a:t> và </a:t>
            </a:r>
            <a:r>
              <a:rPr lang="vi-VN" sz="1800" b="1" dirty="0">
                <a:solidFill>
                  <a:srgbClr val="000000"/>
                </a:solidFill>
              </a:rPr>
              <a:t>backend2</a:t>
            </a:r>
            <a:r>
              <a:rPr lang="vi-VN" sz="1800" dirty="0">
                <a:solidFill>
                  <a:srgbClr val="000000"/>
                </a:solidFill>
              </a:rPr>
              <a:t>.</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Mạng nội bộ Docker: </a:t>
            </a:r>
            <a:r>
              <a:rPr lang="vi-VN" sz="1800" dirty="0">
                <a:solidFill>
                  <a:srgbClr val="000000"/>
                </a:solidFill>
              </a:rPr>
              <a:t>Các container liên kết qua mạng bridge </a:t>
            </a:r>
            <a:r>
              <a:rPr lang="vi-VN" sz="1800" b="1" dirty="0">
                <a:solidFill>
                  <a:srgbClr val="000000"/>
                </a:solidFill>
              </a:rPr>
              <a:t>demo</a:t>
            </a:r>
            <a:r>
              <a:rPr lang="vi-VN" sz="1800" dirty="0">
                <a:solidFill>
                  <a:srgbClr val="000000"/>
                </a:solidFill>
              </a:rPr>
              <a:t> khép kín.</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Bảo mật kết nối: </a:t>
            </a:r>
            <a:r>
              <a:rPr lang="vi-VN" sz="1800" dirty="0">
                <a:solidFill>
                  <a:srgbClr val="000000"/>
                </a:solidFill>
              </a:rPr>
              <a:t>Hỗ trợ mã hóa </a:t>
            </a:r>
            <a:r>
              <a:rPr lang="vi-VN" sz="1800" b="1" dirty="0">
                <a:solidFill>
                  <a:srgbClr val="000000"/>
                </a:solidFill>
              </a:rPr>
              <a:t>HTTPS (cổng 8443)</a:t>
            </a:r>
            <a:r>
              <a:rPr lang="vi-VN" sz="1800" dirty="0">
                <a:solidFill>
                  <a:srgbClr val="000000"/>
                </a:solidFill>
              </a:rPr>
              <a:t> tại tầng NGINX Reverse Proxy.</a:t>
            </a:r>
            <a:endParaRPr lang="vi-VN" sz="1800" dirty="0">
              <a:solidFill>
                <a:srgbClr val="000000"/>
              </a:solidFill>
            </a:endParaRPr>
          </a:p>
          <a:p>
            <a:pPr marL="250190" indent="-250190" algn="l"/>
            <a:r>
              <a:rPr lang="vi-VN" sz="1800" b="1" dirty="0">
                <a:solidFill>
                  <a:srgbClr val="000000"/>
                </a:solidFill>
              </a:rPr>
              <a:t>▸ </a:t>
            </a:r>
            <a:r>
              <a:rPr lang="vi-VN" sz="1800" dirty="0">
                <a:solidFill>
                  <a:srgbClr val="000000"/>
                </a:solidFill>
              </a:rPr>
              <a:t>Giới hạn hệ thống: </a:t>
            </a:r>
            <a:r>
              <a:rPr lang="vi-VN" sz="1800" dirty="0">
                <a:solidFill>
                  <a:srgbClr val="000000"/>
                </a:solidFill>
              </a:rPr>
              <a:t>NGINX không loại bỏ mọi rủi ro; tính sẵn sàng phụ thuộc cả backend và database.</a:t>
            </a:r>
            <a:endParaRPr lang="vi-VN" sz="1800" dirty="0">
              <a:solidFill>
                <a:srgbClr val="0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lgn="l"/>
            <a:r>
              <a:rPr lang="vi-VN" sz="2400" b="1" dirty="0">
                <a:solidFill>
                  <a:srgbClr val="FFFFFF"/>
                </a:solidFill>
              </a:rPr>
              <a:t>2. So sánh Trước và Sau khi triển khai NGINX</a:t>
            </a:r>
            <a:endParaRPr lang="vi-VN" sz="2400" b="1" dirty="0">
              <a:solidFill>
                <a:srgbClr val="FFFFFF"/>
              </a:solidFill>
            </a:endParaRPr>
          </a:p>
        </p:txBody>
      </p:sp>
      <p:graphicFrame>
        <p:nvGraphicFramePr>
          <p:cNvPr id="9" name="Table 8"/>
          <p:cNvGraphicFramePr>
            <a:graphicFrameLocks noGrp="1"/>
          </p:cNvGraphicFramePr>
          <p:nvPr/>
        </p:nvGraphicFramePr>
        <p:xfrm>
          <a:off x="457200" y="1300000"/>
          <a:ext cx="11277600" cy="5366670"/>
        </p:xfrm>
        <a:graphic>
          <a:graphicData uri="http://schemas.openxmlformats.org/drawingml/2006/table">
            <a:tbl>
              <a:tblPr firstRow="1" bandRow="1">
                <a:tableStyleId>{5C22544A-7EE6-4342-B048-85BDC9FD1C3A}</a:tableStyleId>
              </a:tblPr>
              <a:tblGrid>
                <a:gridCol w="2277600"/>
                <a:gridCol w="4500000"/>
                <a:gridCol w="4500000"/>
              </a:tblGrid>
              <a:tr h="766666">
                <a:tc>
                  <a:txBody>
                    <a:bodyPr/>
                    <a:lstStyle/>
                    <a:p>
                      <a:pPr algn="l"/>
                      <a:r>
                        <a:rPr lang="vi-VN" sz="1400" b="1" dirty="0">
                          <a:solidFill>
                            <a:srgbClr val="FFFFFF"/>
                          </a:solidFill>
                        </a:rPr>
                        <a:t>Tiêu chí</a:t>
                      </a:r>
                      <a:endParaRPr lang="vi-VN" sz="1400" b="1" dirty="0">
                        <a:solidFill>
                          <a:srgbClr val="FFFFFF"/>
                        </a:solidFill>
                      </a:endParaRPr>
                    </a:p>
                  </a:txBody>
                  <a:tcPr anchor="ctr">
                    <a:solidFill>
                      <a:srgbClr val="880C10"/>
                    </a:solidFill>
                  </a:tcPr>
                </a:tc>
                <a:tc>
                  <a:txBody>
                    <a:bodyPr/>
                    <a:lstStyle/>
                    <a:p>
                      <a:pPr algn="l"/>
                      <a:r>
                        <a:rPr lang="vi-VN" sz="1400" b="1" dirty="0">
                          <a:solidFill>
                            <a:srgbClr val="FFFFFF"/>
                          </a:solidFill>
                        </a:rPr>
                        <a:t>Trước khi dùng Reverse Proxy</a:t>
                      </a:r>
                      <a:endParaRPr lang="vi-VN" sz="1400" b="1" dirty="0">
                        <a:solidFill>
                          <a:srgbClr val="FFFFFF"/>
                        </a:solidFill>
                      </a:endParaRPr>
                    </a:p>
                  </a:txBody>
                  <a:tcPr anchor="ctr">
                    <a:solidFill>
                      <a:srgbClr val="880C10"/>
                    </a:solidFill>
                  </a:tcPr>
                </a:tc>
                <a:tc>
                  <a:txBody>
                    <a:bodyPr/>
                    <a:lstStyle/>
                    <a:p>
                      <a:pPr algn="l"/>
                      <a:r>
                        <a:rPr lang="vi-VN" sz="1400" b="1" dirty="0">
                          <a:solidFill>
                            <a:srgbClr val="FFFFFF"/>
                          </a:solidFill>
                        </a:rPr>
                        <a:t>Sau khi triển khai NGINX</a:t>
                      </a:r>
                      <a:endParaRPr lang="vi-VN" sz="1400" b="1" dirty="0">
                        <a:solidFill>
                          <a:srgbClr val="FFFFFF"/>
                        </a:solidFill>
                      </a:endParaRPr>
                    </a:p>
                  </a:txBody>
                  <a:tcPr anchor="ctr">
                    <a:solidFill>
                      <a:srgbClr val="880C10"/>
                    </a:solidFill>
                  </a:tcPr>
                </a:tc>
              </a:tr>
              <a:tr h="766666">
                <a:tc>
                  <a:txBody>
                    <a:bodyPr/>
                    <a:lstStyle/>
                    <a:p>
                      <a:pPr algn="l"/>
                      <a:r>
                        <a:rPr lang="vi-VN" sz="1400" b="1" dirty="0">
                          <a:solidFill>
                            <a:srgbClr val="000000"/>
                          </a:solidFill>
                        </a:rPr>
                        <a:t>Frontend</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Truy cập trực tiếp dịch vụ frontend</a:t>
                      </a:r>
                      <a:endParaRPr lang="vi-VN" sz="1400" dirty="0">
                        <a:solidFill>
                          <a:srgbClr val="000000"/>
                        </a:solidFill>
                      </a:endParaRPr>
                    </a:p>
                  </a:txBody>
                  <a:tcPr anchor="ctr">
                    <a:solidFill>
                      <a:srgbClr val="FFFFFF"/>
                    </a:solidFill>
                  </a:tcPr>
                </a:tc>
                <a:tc>
                  <a:txBody>
                    <a:bodyPr/>
                    <a:lstStyle/>
                    <a:p>
                      <a:pPr algn="l"/>
                      <a:r>
                        <a:rPr lang="vi-VN" sz="1400" b="1" dirty="0">
                          <a:solidFill>
                            <a:srgbClr val="000000"/>
                          </a:solidFill>
                        </a:rPr>
                        <a:t>NGINX</a:t>
                      </a:r>
                      <a:r>
                        <a:rPr lang="vi-VN" sz="1400" dirty="0">
                          <a:solidFill>
                            <a:srgbClr val="000000"/>
                          </a:solidFill>
                        </a:rPr>
                        <a:t> phục vụ file tĩnh </a:t>
                      </a:r>
                      <a:r>
                        <a:rPr lang="vi-VN" sz="1400" b="1" dirty="0">
                          <a:solidFill>
                            <a:srgbClr val="000000"/>
                          </a:solidFill>
                        </a:rPr>
                        <a:t>(HTML/CSS/JS)</a:t>
                      </a:r>
                      <a:endParaRPr lang="vi-VN" sz="1400" b="1" dirty="0">
                        <a:solidFill>
                          <a:srgbClr val="000000"/>
                        </a:solidFill>
                      </a:endParaRPr>
                    </a:p>
                  </a:txBody>
                  <a:tcPr anchor="ctr">
                    <a:solidFill>
                      <a:srgbClr val="F0FDF4"/>
                    </a:solidFill>
                  </a:tcPr>
                </a:tc>
              </a:tr>
              <a:tr h="766666">
                <a:tc>
                  <a:txBody>
                    <a:bodyPr/>
                    <a:lstStyle/>
                    <a:p>
                      <a:pPr algn="l"/>
                      <a:r>
                        <a:rPr lang="vi-VN" sz="1400" b="1" dirty="0">
                          <a:solidFill>
                            <a:srgbClr val="000000"/>
                          </a:solidFill>
                        </a:rPr>
                        <a:t>API &amp; CORS</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Frontend gọi API khác origin</a:t>
                      </a:r>
                      <a:endParaRPr lang="vi-VN" sz="1400" dirty="0">
                        <a:solidFill>
                          <a:srgbClr val="000000"/>
                        </a:solidFill>
                      </a:endParaRPr>
                    </a:p>
                  </a:txBody>
                  <a:tcPr anchor="ctr">
                    <a:solidFill>
                      <a:srgbClr val="FFFFFF"/>
                    </a:solidFill>
                  </a:tcPr>
                </a:tc>
                <a:tc>
                  <a:txBody>
                    <a:bodyPr/>
                    <a:lstStyle/>
                    <a:p>
                      <a:pPr algn="l"/>
                      <a:r>
                        <a:rPr lang="vi-VN" sz="1400" dirty="0">
                          <a:solidFill>
                            <a:srgbClr val="000000"/>
                          </a:solidFill>
                        </a:rPr>
                        <a:t>Đi qua </a:t>
                      </a:r>
                      <a:r>
                        <a:rPr lang="vi-VN" sz="1400" b="1" dirty="0">
                          <a:solidFill>
                            <a:srgbClr val="000000"/>
                          </a:solidFill>
                        </a:rPr>
                        <a:t>/api/</a:t>
                      </a:r>
                      <a:r>
                        <a:rPr lang="vi-VN" sz="1400" dirty="0">
                          <a:solidFill>
                            <a:srgbClr val="000000"/>
                          </a:solidFill>
                        </a:rPr>
                        <a:t> cùng origin → </a:t>
                      </a:r>
                      <a:r>
                        <a:rPr lang="vi-VN" sz="1400" b="1" dirty="0">
                          <a:solidFill>
                            <a:srgbClr val="000000"/>
                          </a:solidFill>
                        </a:rPr>
                        <a:t>giảm lỗi CORS</a:t>
                      </a:r>
                      <a:endParaRPr lang="vi-VN" sz="1400" b="1" dirty="0">
                        <a:solidFill>
                          <a:srgbClr val="000000"/>
                        </a:solidFill>
                      </a:endParaRPr>
                    </a:p>
                  </a:txBody>
                  <a:tcPr anchor="ctr">
                    <a:solidFill>
                      <a:srgbClr val="F0FDF4"/>
                    </a:solidFill>
                  </a:tcPr>
                </a:tc>
              </a:tr>
              <a:tr h="766666">
                <a:tc>
                  <a:txBody>
                    <a:bodyPr/>
                    <a:lstStyle/>
                    <a:p>
                      <a:pPr algn="l"/>
                      <a:r>
                        <a:rPr lang="vi-VN" sz="1400" b="1" dirty="0">
                          <a:solidFill>
                            <a:srgbClr val="000000"/>
                          </a:solidFill>
                        </a:rPr>
                        <a:t>Phân tải</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Chỉ 1 backend (Single Point of Failure)</a:t>
                      </a:r>
                      <a:endParaRPr lang="vi-VN" sz="1400" dirty="0">
                        <a:solidFill>
                          <a:srgbClr val="000000"/>
                        </a:solidFill>
                      </a:endParaRPr>
                    </a:p>
                  </a:txBody>
                  <a:tcPr anchor="ctr">
                    <a:solidFill>
                      <a:srgbClr val="FFFFFF"/>
                    </a:solidFill>
                  </a:tcPr>
                </a:tc>
                <a:tc>
                  <a:txBody>
                    <a:bodyPr/>
                    <a:lstStyle/>
                    <a:p>
                      <a:pPr algn="l"/>
                      <a:r>
                        <a:rPr lang="vi-VN" sz="1400" dirty="0">
                          <a:solidFill>
                            <a:srgbClr val="000000"/>
                          </a:solidFill>
                        </a:rPr>
                        <a:t>Upstream </a:t>
                      </a:r>
                      <a:r>
                        <a:rPr lang="vi-VN" sz="1400" b="1" dirty="0">
                          <a:solidFill>
                            <a:srgbClr val="000000"/>
                          </a:solidFill>
                        </a:rPr>
                        <a:t>luma_backend</a:t>
                      </a:r>
                      <a:r>
                        <a:rPr lang="vi-VN" sz="1400" dirty="0">
                          <a:solidFill>
                            <a:srgbClr val="000000"/>
                          </a:solidFill>
                        </a:rPr>
                        <a:t> điều phối </a:t>
                      </a:r>
                      <a:r>
                        <a:rPr lang="vi-VN" sz="1400" b="1" dirty="0">
                          <a:solidFill>
                            <a:srgbClr val="000000"/>
                          </a:solidFill>
                        </a:rPr>
                        <a:t>backend1 / 2</a:t>
                      </a:r>
                      <a:endParaRPr lang="vi-VN" sz="1400" b="1" dirty="0">
                        <a:solidFill>
                          <a:srgbClr val="000000"/>
                        </a:solidFill>
                      </a:endParaRPr>
                    </a:p>
                  </a:txBody>
                  <a:tcPr anchor="ctr">
                    <a:solidFill>
                      <a:srgbClr val="F0FDF4"/>
                    </a:solidFill>
                  </a:tcPr>
                </a:tc>
              </a:tr>
              <a:tr h="766666">
                <a:tc>
                  <a:txBody>
                    <a:bodyPr/>
                    <a:lstStyle/>
                    <a:p>
                      <a:pPr algn="l"/>
                      <a:r>
                        <a:rPr lang="vi-VN" sz="1400" b="1" dirty="0">
                          <a:solidFill>
                            <a:srgbClr val="000000"/>
                          </a:solidFill>
                        </a:rPr>
                        <a:t>Cổng dịch vụ</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Phải mở trực tiếp cổng backend ra ngoài</a:t>
                      </a:r>
                      <a:endParaRPr lang="vi-VN" sz="1400" dirty="0">
                        <a:solidFill>
                          <a:srgbClr val="000000"/>
                        </a:solidFill>
                      </a:endParaRPr>
                    </a:p>
                  </a:txBody>
                  <a:tcPr anchor="ctr">
                    <a:solidFill>
                      <a:srgbClr val="FFFFFF"/>
                    </a:solidFill>
                  </a:tcPr>
                </a:tc>
                <a:tc>
                  <a:txBody>
                    <a:bodyPr/>
                    <a:lstStyle/>
                    <a:p>
                      <a:pPr algn="l"/>
                      <a:r>
                        <a:rPr lang="vi-VN" sz="1400" dirty="0">
                          <a:solidFill>
                            <a:srgbClr val="000000"/>
                          </a:solidFill>
                        </a:rPr>
                        <a:t>Giữ backend trong mạng nội bộ </a:t>
                      </a:r>
                      <a:r>
                        <a:rPr lang="vi-VN" sz="1400" b="1" dirty="0">
                          <a:solidFill>
                            <a:srgbClr val="000000"/>
                          </a:solidFill>
                        </a:rPr>
                        <a:t>Docker demo</a:t>
                      </a:r>
                      <a:endParaRPr lang="vi-VN" sz="1400" b="1" dirty="0">
                        <a:solidFill>
                          <a:srgbClr val="000000"/>
                        </a:solidFill>
                      </a:endParaRPr>
                    </a:p>
                  </a:txBody>
                  <a:tcPr anchor="ctr">
                    <a:solidFill>
                      <a:srgbClr val="F0FDF4"/>
                    </a:solidFill>
                  </a:tcPr>
                </a:tc>
              </a:tr>
              <a:tr h="766670">
                <a:tc>
                  <a:txBody>
                    <a:bodyPr/>
                    <a:lstStyle/>
                    <a:p>
                      <a:pPr algn="l"/>
                      <a:r>
                        <a:rPr lang="vi-VN" sz="1400" b="1" dirty="0">
                          <a:solidFill>
                            <a:srgbClr val="000000"/>
                          </a:solidFill>
                        </a:rPr>
                        <a:t>HTTPS</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Chưa có hoặc phải cấu hình trên từng service</a:t>
                      </a:r>
                      <a:endParaRPr lang="vi-VN" sz="1400" dirty="0">
                        <a:solidFill>
                          <a:srgbClr val="000000"/>
                        </a:solidFill>
                      </a:endParaRPr>
                    </a:p>
                  </a:txBody>
                  <a:tcPr anchor="ctr">
                    <a:solidFill>
                      <a:srgbClr val="FFFFFF"/>
                    </a:solidFill>
                  </a:tcPr>
                </a:tc>
                <a:tc>
                  <a:txBody>
                    <a:bodyPr/>
                    <a:lstStyle/>
                    <a:p>
                      <a:pPr algn="l"/>
                      <a:r>
                        <a:rPr lang="vi-VN" sz="1400" dirty="0">
                          <a:solidFill>
                            <a:srgbClr val="000000"/>
                          </a:solidFill>
                        </a:rPr>
                        <a:t>Kết thúc </a:t>
                      </a:r>
                      <a:r>
                        <a:rPr lang="vi-VN" sz="1400" b="1" dirty="0">
                          <a:solidFill>
                            <a:srgbClr val="000000"/>
                          </a:solidFill>
                        </a:rPr>
                        <a:t>TLS/HTTPS</a:t>
                      </a:r>
                      <a:r>
                        <a:rPr lang="vi-VN" sz="1400" dirty="0">
                          <a:solidFill>
                            <a:srgbClr val="000000"/>
                          </a:solidFill>
                        </a:rPr>
                        <a:t> tập trung tại NGINX </a:t>
                      </a:r>
                      <a:r>
                        <a:rPr lang="vi-VN" sz="1400" b="1" dirty="0">
                          <a:solidFill>
                            <a:srgbClr val="000000"/>
                          </a:solidFill>
                        </a:rPr>
                        <a:t>(cổng 8443)</a:t>
                      </a:r>
                      <a:endParaRPr lang="vi-VN" sz="1400" b="1" dirty="0">
                        <a:solidFill>
                          <a:srgbClr val="000000"/>
                        </a:solidFill>
                      </a:endParaRPr>
                    </a:p>
                  </a:txBody>
                  <a:tcPr anchor="ctr">
                    <a:solidFill>
                      <a:srgbClr val="F0FDF4"/>
                    </a:solidFill>
                  </a:tcPr>
                </a:tc>
              </a:tr>
              <a:tr h="766670">
                <a:tc>
                  <a:txBody>
                    <a:bodyPr/>
                    <a:lstStyle/>
                    <a:p>
                      <a:pPr algn="l"/>
                      <a:r>
                        <a:rPr lang="vi-VN" sz="1400" b="1" dirty="0">
                          <a:solidFill>
                            <a:srgbClr val="000000"/>
                          </a:solidFill>
                        </a:rPr>
                        <a:t>Vận hành</a:t>
                      </a:r>
                      <a:endParaRPr lang="vi-VN" sz="1400" b="1" dirty="0">
                        <a:solidFill>
                          <a:srgbClr val="000000"/>
                        </a:solidFill>
                      </a:endParaRPr>
                    </a:p>
                  </a:txBody>
                  <a:tcPr anchor="ctr">
                    <a:solidFill>
                      <a:srgbClr val="F1F5F9"/>
                    </a:solidFill>
                  </a:tcPr>
                </a:tc>
                <a:tc>
                  <a:txBody>
                    <a:bodyPr/>
                    <a:lstStyle/>
                    <a:p>
                      <a:pPr algn="l"/>
                      <a:r>
                        <a:rPr lang="vi-VN" sz="1400" dirty="0">
                          <a:solidFill>
                            <a:srgbClr val="000000"/>
                          </a:solidFill>
                        </a:rPr>
                        <a:t>Khó quản lý và theo dõi phân tán</a:t>
                      </a:r>
                      <a:endParaRPr lang="vi-VN" sz="1400" dirty="0">
                        <a:solidFill>
                          <a:srgbClr val="000000"/>
                        </a:solidFill>
                      </a:endParaRPr>
                    </a:p>
                  </a:txBody>
                  <a:tcPr anchor="ctr">
                    <a:solidFill>
                      <a:srgbClr val="FFFFFF"/>
                    </a:solidFill>
                  </a:tcPr>
                </a:tc>
                <a:tc>
                  <a:txBody>
                    <a:bodyPr/>
                    <a:lstStyle/>
                    <a:p>
                      <a:pPr algn="l"/>
                      <a:r>
                        <a:rPr lang="vi-VN" sz="1400" dirty="0">
                          <a:solidFill>
                            <a:srgbClr val="000000"/>
                          </a:solidFill>
                        </a:rPr>
                        <a:t>Tập trung log truy cập và định tuyến tại </a:t>
                      </a:r>
                      <a:r>
                        <a:rPr lang="vi-VN" sz="1400" b="1" dirty="0">
                          <a:solidFill>
                            <a:srgbClr val="000000"/>
                          </a:solidFill>
                        </a:rPr>
                        <a:t>NGINX</a:t>
                      </a:r>
                      <a:endParaRPr lang="vi-VN" sz="1400" b="1" dirty="0">
                        <a:solidFill>
                          <a:srgbClr val="000000"/>
                        </a:solidFill>
                      </a:endParaRPr>
                    </a:p>
                  </a:txBody>
                  <a:tcPr anchor="ctr">
                    <a:solidFill>
                      <a:srgbClr val="F0FDF4"/>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146050"/>
          </a:xfrm>
          <a:prstGeom prst="rect">
            <a:avLst/>
          </a:prstGeom>
          <a:noFill/>
        </p:spPr>
        <p:txBody>
          <a:bodyPr wrap="square" lIns="0" tIns="0" rIns="0" bIns="0">
            <a:spAutoFit/>
          </a:bodyPr>
          <a:lstStyle/>
          <a:p>
            <a:pPr algn="r">
              <a:defRPr sz="950">
                <a:solidFill>
                  <a:srgbClr val="475569"/>
                </a:solidFill>
                <a:latin typeface="Segoe UI" panose="020B0502040204020203"/>
              </a:defRPr>
            </a:pPr>
          </a:p>
        </p:txBody>
      </p:sp>
      <p:sp>
        <p:nvSpPr>
          <p:cNvPr id="8" name="TextBox 7"/>
          <p:cNvSpPr txBox="1"/>
          <p:nvPr/>
        </p:nvSpPr>
        <p:spPr>
          <a:xfrm>
            <a:off x="1000000" y="2500000"/>
            <a:ext cx="10191365" cy="1800000"/>
          </a:xfrm>
          <a:prstGeom prst="rect">
            <a:avLst/>
          </a:prstGeom>
          <a:noFill/>
        </p:spPr>
        <p:txBody>
          <a:bodyPr wrap="square" lIns="0" tIns="0" rIns="0" bIns="0">
            <a:spAutoFit/>
          </a:bodyPr>
          <a:lstStyle/>
          <a:p>
            <a:pPr algn="ctr">
              <a:defRPr sz="3600" b="1">
                <a:solidFill>
                  <a:srgbClr val="880C10"/>
                </a:solidFill>
                <a:latin typeface="Segoe UI" panose="020B0502040204020203"/>
              </a:defRPr>
            </a:pPr>
            <a:r>
              <a:t>CẢM ƠN THẦY VÀ CÁC BẠN ĐÃ LẮNG NGHE!</a:t>
            </a:r>
          </a:p>
          <a:p>
            <a:pPr algn="ctr">
              <a:spcBef>
                <a:spcPts val="1600"/>
              </a:spcBef>
              <a:defRPr sz="1800">
                <a:solidFill>
                  <a:srgbClr val="475569"/>
                </a:solidFill>
                <a:latin typeface="Segoe UI" panose="020B0502040204020203"/>
              </a:defRPr>
            </a:pPr>
            <a:r>
              <a:t>Nhóm 7 xin nhận các câu hỏi phản biện &amp; đóng góp ý kiến.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17111</Words>
  <Application>WPS Presentation</Application>
  <PresentationFormat>On-screen Show (4:3)</PresentationFormat>
  <Paragraphs>465</Paragraphs>
  <Slides>42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42</vt:i4>
      </vt:variant>
    </vt:vector>
  </HeadingPairs>
  <TitlesOfParts>
    <vt:vector size="56" baseType="lpstr">
      <vt:lpstr>Arial</vt:lpstr>
      <vt:lpstr>SimSun</vt:lpstr>
      <vt:lpstr>Wingdings</vt:lpstr>
      <vt:lpstr>Arial</vt:lpstr>
      <vt:lpstr>Segoe UI</vt:lpstr>
      <vt:lpstr>Segoe UI</vt:lpstr>
      <vt:lpstr>Roboto</vt:lpstr>
      <vt:lpstr>Times New Roman</vt:lpstr>
      <vt:lpstr>ti</vt:lpstr>
      <vt:lpstr>Segoe Print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Web Server </vt:lpstr>
      <vt:lpstr>Web Server </vt:lpstr>
      <vt:lpstr>Cách hoạt động của Web Server </vt:lpstr>
      <vt:lpstr>Cách hoạt động của Web Server </vt:lpstr>
      <vt:lpstr>Cách hoạt động của Web Server </vt:lpstr>
      <vt:lpstr>Cách hoạt động của Web Server </vt:lpstr>
      <vt:lpstr>Cách hoạt động của Web Server </vt:lpstr>
      <vt:lpstr>Reverse Proxy</vt:lpstr>
      <vt:lpstr>Lợi ích của Reverse Proxy</vt:lpstr>
      <vt:lpstr>Địa chỉ IP</vt:lpstr>
      <vt:lpstr>Domain</vt:lpstr>
      <vt:lpstr>Port</vt:lpstr>
      <vt:lpstr>SSL/TLS</vt:lpstr>
      <vt:lpstr>SSL/TLS</vt:lpstr>
      <vt:lpstr>SSL/TLS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Manh Nguyen Duc</cp:lastModifiedBy>
  <cp:revision>8</cp:revision>
  <dcterms:created xsi:type="dcterms:W3CDTF">2013-01-27T09:14:00Z</dcterms:created>
  <dcterms:modified xsi:type="dcterms:W3CDTF">2026-10-11T05:29:07Z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1066-12.1.0.28485</vt:lpwstr>
  </property>
  <property fmtid="{D5CDD505-2E9C-101B-9397-08002B2CF9AE}" pid="3" name="ICV">
    <vt:lpwstr>619751534D04477A95B6DCD32BD7A8FD_12</vt:lpwstr>
  </property>
</Properties>
</file>