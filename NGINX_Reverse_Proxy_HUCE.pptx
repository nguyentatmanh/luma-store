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Kính chào Thầy và các bạn. Hôm nay Nhóm 7 xin đại diện báo cáo chuyên đề: Tìm hiểu về cấu hình Nghinx reverse proxy, phân tải Upstream và giải quyết các bài toán hạ tầng mạng thực tế trên dự án Luma Store.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mục lục tổng quan 5 phần của bài báo cáo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1: MỞ ĐẦU &amp; BỐI CẢNH DỰ ÁN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phát triển ứng dụng web hiện đại, việc tách riêng Frontend và Backend làm phát sinh 4 bài toán lớn: lỗi CORS kinh điển khi gọi khác port, một máy chủ backend duy nhất dễ bị sập khi đông người truy cập, các cổng nội bộ bị lộ ra ngoài Internet, và Node.js bị quá tải vì phải phục vụ file tĩnh. Cần có một giải pháp hạ tầng tập trung để xử lý toàn diện.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2: LÝ THUYẾT NỀN TẢNG MẠNG &amp; WEB</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Khái niệm đầu tiên là Web Server. Về bản chất, Web Server là máy chủ chuyên trách việc lắng nghe yêu cầu HTTP từ trình duyệt, đọc các file tĩnh trong ổ cứng như HTML, CSS, JavaScript và phản hồi ngay lập tức cho client. Khi gặp các xử lý logic phức tạp, nó sẽ đẩy việc đó cho Application Server xử lý.</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Ngược lại với Web Server trực tiếp phát file, Reverse Proxy đóng vai trò như ban lễ tân của tòa nhà. Khách đến chỉ được gặp lễ tân ở cửa ngõ duy nhất. Lễ tân sẽ tự điều phối khách vào các phòng ban bên trong mà không để khách biết sơ đồ hay địa chỉ nội bộ. Điều này giúp bảo mật tối đa và chia đều gánh nặng cho hệ thống.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Để kết nối tới Web Server hay Reverse Proxy, ta cần địa chỉ IP. IP chính là địa chỉ nhà của máy chủ trên bản đồ mạng. Trong môi trường phát triển cục bộ, 127.0.0.1 là dải Loopback đặc biệt trỏ thẳng về chính máy tính hiện tại mà không cần đi ra ngoài router.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Nếu IP là địa chỉ nhà thì Port chính là số phòng của từng ứng dụng đang chạy bên trong. Nhờ có Port, một máy chủ có thể chạy cùng lúc Web Server ở port 80 và API Backend ở port 3000 mà không hề xung đột.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 người không thể nhớ nổi các dãy số IP phức tạp, do đó Tên miền ra đời. Hệ thống DNS hoạt động như cuốn danh bạ số, giúp chuyển đổi tên miền thân thiện thành IP để máy tính gửi gói tin.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Trước khi máy tính bước ra ngoài Internet hỏi DNS, nó luôn tra cứu cuốn sổ tay cục bộ là file hosts trước. Tận dụng điều này, ta có thể định nghĩa các domain ảo như luma-store.local trỏ thẳng về 127.0.0.1 để chạy thử nghiệm như môi trường thật.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Điểm đặc biệt sinh viên rất hay nhầm lẫn: khi chạy Docker hoặc WSL2 nhưng mở Chrome trên Windows để test, ta bắt buộc phải sửa file hosts của Windows chứ không phải của WSL, vì chính trình duyệt Windows mới là nơi gửi yêu cầu phân giải tên miền.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Giao thức HTTP truyền dữ liệu thô như gửi bức thư mở, ai đứng giữa đường truyền cũng đọc được. HTTPS đóng gói dữ liệu đó vào két sắt mã hóa TLS/SSL, chỉ có người nhận có chìa khóa mới giải mã được.</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Làm sao trình duyệt biết chứng chỉ đó là thật? Nhờ Chuỗi tin cậy Chain of Trust. Trình duyệt đã có sẵn danh sách các Root CA uy tín thế giới. Nếu chúng ta tự tạo SSL ở nhà, trình duyệt không tìm thấy CA quen thuộc nên sẽ bật cảnh báo đỏ.</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3: KIẾN TRÚC &amp; CẤU TRÚC FILE CẤU HÌNH NGINX</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NGINX thống trị thế giới máy chủ nhờ giải quyết bài toán C10K. Thay vì tạo một tiến trình mới cho mỗi khách như Apache, NGINX dùng mô hình vòng lặp sự kiện bất đồng bộ, giúp một tiến trình đơn lẻ có thể phục vụ hàng vạn kết nối đồng thời mà tốn rất ít RAM.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File nginx.conf tổ chức theo dạng cây khối lồng nhau. Khối lớn nhất là HTTP bao bọc toàn bộ. Bên trong chứa các khối Server đại diện cho từng website. Trong Server lại có các khối Location quyết định URL nào đi về đâu.</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Để làm chủ NGINX, chúng ta chỉ cần nắm vững 5 directive cốt lõi này. Trong đó proxy_pass và proxy_set_header là cặp bài trùng không thể thiếu khi xây dựng hệ thống Reverse Proxy.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4: DEMO THỰC CHIẾN TRÊN DỰ ÁN LUMA STORE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Ở bước đầu tiên, nhóm đóng gói bản build Frontend của Luma Store và đặt vào NGINX. NGINX đóng vai trò Web Server thuần túy, trả về HTML/CSS/JS tĩnh mà không cần chạy qua bất kỳ runtime nặng nề nào như Node.js.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Như các bạn thấy trên màn hình, trang chủ Luma Store đã load mượt mà. Nhìn vào Network tab, header Server trả về là NGINX, chứng minh NGINX đang trực tiếp phục vụ tài nguyên tĩnh.</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Frontend bắt đầu gọi API lấy danh sách sản phẩm ở port 3000, thảm họa xảy ra: Trình duyệt chặn đứng vì vi phạm chính sách Same-Origin Policy. Đây là lỗi kinh điển mà mọi lập trình viên đều từng đau đầu.</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Thay vì sửa code backend thêm các cấu hình CORS lằng nhằng, ta đặt NGINX làm Reverse Proxy tại port 80. Mọi request /api/ đều được NGINX âm thầm chuyển tiếp tới backend 3000. Với trình duyệt, tất cả đều chung port 80, bài toán CORS được giải quyết triệt để từ tầng hạ tầng.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đứng sau proxy, backend sẽ tưởng nhầm tất cả request đều đến từ NGINX. Ta phải dùng proxy_set_header để NGINX gắn thẻ IP thật của người dùng vào header X-Real-IP, giúp backend biết chính xác ai đang gọi đến.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Trong thực tế, không ai dám chạy một backend duy nhất cho một trang thương mại điện tử. Nếu nó sập, khách hàng sẽ bỏ đi. Ta cần nhân bản thành nhiều node backend và dùng khối Upstream của NGINX để gom chúng lại thành một khối thống nhất.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Cấu hình Upstream cực kỳ tinh gọn. Mặc định NGINX dùng thuật toán Round Robin chia bài 50-50. Nếu máy 1 mạnh hơn máy 2, ta chỉ cần gắn thêm trọng số weight để NGINX ưu tiên dồn tải vào máy mạnh hơn.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Đây là minh chứng thực tế: Khi nhóm gửi liên tục các request từ giao diện, hai cửa sổ terminal của Node 3001 và Node 3002 lần lượt sáng đèn xử lý xen kẽ. Tải đã được phân bổ đều đặn và hoàn toàn tự động.</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Khi chuyển hệ thống lên Docker, các bạn tuyệt đối không dùng localhost nữa vì mỗi container là một thế giới riêng. Nhờ Docker Bridge Network và cơ chế DNS nội bộ, NGINX chỉ cần gọi thẳng tên service như 'http://backend1:3000', Docker sẽ tự phân giải IP nội bộ tương ứng.</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Một tính năng tự vệ mặc định rất hay của NGINX là chặn mọi file lớn hơn 1MB và ném ra lỗi 413. Khi làm web bán hàng cần upload ảnh sản phẩm chất lượng cao, ta phải cấu hình nới lỏng directive client_max_body_size lên 50MB.</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Để hệ thống mang dáng dấp môi trường doanh nghiệp, nhóm gắn tên miền ảo luma-store.local vào file hosts. Giờ đây toàn bộ dự án đã có thể truy cập qua tên miền riêng biệt một cách chuyên nghiệp.</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Cuối cùng, nhóm thiết lập giao thức mã hóa HTTPS bằng chứng chỉ tự ký OpenSSL. Trình duyệt hiện cảnh báo Not Secure chính là bằng chứng xác nhận lý thuyết Chain of Trust đã học: vì ta tự ký nên thiếu chứng thực của Root CA. Trên môi trường thực tế, ta chỉ cần gắn domain thật và chạy Certbot là trang web sẽ có ổ khóa xanh uy tín.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tiếp sang PHẦN 5: TỔNG KẾT &amp; ĐÁNH GIÁ KIẾN TRÚC</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Nhìn lại bức tranh tổng thể, NGINX đã giải quyết xuất sắc tất cả bài toán hạ tầng: vừa là lớp giáp bảo vệ HTTPS, vừa là máy chủ tĩnh tốc độ cao, vừa điều phối tải thông minh cho nhiều node backend bên dưới.</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Bảng tổng hợp này thể hiện rõ bước nhảy vọt của hệ thống trước và sau khi áp dụng NGINX: từ một ứng dụng dễ sập, lộ cổng và lỗi CORS trở thành một kiến trúc máy chủ chuẩn mực, bảo mật và chịu tải cao.</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Phần trình bày của Nhóm 7 về cấu hình NGINX Reverse Proxy đến đây xin được khép lại. Nhóm xin trân trọng cảm ơn Thầy và các bạn đã chú ý theo dõi. Rất mong nhận được những nhận xét và câu hỏi phản biện từ Thầy ạ!</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7.xml"/><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7.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7.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1/35</a:t>
            </a:r>
          </a:p>
        </p:txBody>
      </p:sp>
      <p:sp>
        <p:nvSpPr>
          <p:cNvPr id="8" name="TextBox 7"/>
          <p:cNvSpPr txBox="1"/>
          <p:nvPr/>
        </p:nvSpPr>
        <p:spPr>
          <a:xfrm>
            <a:off x="1000000" y="2600000"/>
            <a:ext cx="10191365" cy="1800000"/>
          </a:xfrm>
          <a:prstGeom prst="rect">
            <a:avLst/>
          </a:prstGeom>
          <a:noFill/>
        </p:spPr>
        <p:txBody>
          <a:bodyPr wrap="square" lIns="0" tIns="0" rIns="0" bIns="0">
            <a:spAutoFit/>
          </a:bodyPr>
          <a:lstStyle/>
          <a:p>
            <a:pPr algn="ctr">
              <a:defRPr sz="3600" b="1">
                <a:solidFill>
                  <a:srgbClr val="880C10"/>
                </a:solidFill>
                <a:latin typeface="Segoe UI" panose="020B0502040204020203"/>
              </a:defRPr>
            </a:pPr>
            <a:r>
              <a:t>Tìm hiểu về cấu hình Nghinx reverse proxy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Mục lục nội dung báo cáo</a:t>
            </a:r>
          </a:p>
        </p:txBody>
      </p:sp>
      <p:sp>
        <p:nvSpPr>
          <p:cNvPr id="9" name="TextBox 8"/>
          <p:cNvSpPr txBox="1"/>
          <p:nvPr/>
        </p:nvSpPr>
        <p:spPr>
          <a:xfrm>
            <a:off x="1000000" y="1350000"/>
            <a:ext cx="10191365" cy="4700000"/>
          </a:xfrm>
          <a:prstGeom prst="rect">
            <a:avLst/>
          </a:prstGeom>
          <a:noFill/>
        </p:spPr>
        <p:txBody>
          <a:bodyPr wrap="square" lIns="0" tIns="0" rIns="0" bIns="0">
            <a:spAutoFit/>
          </a:bodyPr>
          <a:lstStyle/>
          <a:p>
            <a:pPr>
              <a:spcBef>
                <a:spcPts val="800"/>
              </a:spcBef>
              <a:spcAft>
                <a:spcPts val="1200"/>
              </a:spcAft>
            </a:pPr>
            <a:r>
              <a:rPr sz="1600" b="1">
                <a:solidFill>
                  <a:srgbClr val="1F242E"/>
                </a:solidFill>
                <a:latin typeface="Segoe UI" panose="020B0502040204020203"/>
              </a:rPr>
              <a:t>•  PHẦN 1: MỞ ĐẦU &amp; BỐI CẢNH DỰ ÁN
</a:t>
            </a:r>
            <a:r>
              <a:rPr sz="1300">
                <a:solidFill>
                  <a:srgbClr val="475569"/>
                </a:solidFill>
                <a:latin typeface="Segoe UI" panose="020B0502040204020203"/>
              </a:rPr>
              <a:t>        ▸  Bài toán thực tế &amp; Đặt vấn đề kiến trúc SPA/Microservices</a:t>
            </a:r>
            <a:endParaRPr sz="1300">
              <a:solidFill>
                <a:srgbClr val="475569"/>
              </a:solidFill>
              <a:latin typeface="Segoe UI" panose="020B0502040204020203"/>
            </a:endParaRPr>
          </a:p>
          <a:p>
            <a:pPr>
              <a:spcBef>
                <a:spcPts val="800"/>
              </a:spcBef>
              <a:spcAft>
                <a:spcPts val="1200"/>
              </a:spcAft>
            </a:pPr>
            <a:r>
              <a:rPr sz="1600" b="1">
                <a:solidFill>
                  <a:srgbClr val="1F242E"/>
                </a:solidFill>
                <a:latin typeface="Segoe UI" panose="020B0502040204020203"/>
              </a:rPr>
              <a:t>•  PHẦN 2: LÝ THUYẾT NỀN TẢNG MẠNG &amp; WEB
</a:t>
            </a:r>
            <a:r>
              <a:rPr sz="1300">
                <a:solidFill>
                  <a:srgbClr val="475569"/>
                </a:solidFill>
                <a:latin typeface="Segoe UI" panose="020B0502040204020203"/>
              </a:rPr>
              <a:t>        ▸  Web Server, Reverse Proxy, IP, Port, DNS, File hosts, SSL/TLS</a:t>
            </a:r>
            <a:endParaRPr sz="1300">
              <a:solidFill>
                <a:srgbClr val="475569"/>
              </a:solidFill>
              <a:latin typeface="Segoe UI" panose="020B0502040204020203"/>
            </a:endParaRPr>
          </a:p>
          <a:p>
            <a:pPr>
              <a:spcBef>
                <a:spcPts val="800"/>
              </a:spcBef>
              <a:spcAft>
                <a:spcPts val="1200"/>
              </a:spcAft>
            </a:pPr>
            <a:r>
              <a:rPr sz="1600" b="1">
                <a:solidFill>
                  <a:srgbClr val="1F242E"/>
                </a:solidFill>
                <a:latin typeface="Segoe UI" panose="020B0502040204020203"/>
              </a:rPr>
              <a:t>•  PHẦN 3: KIẾN TRÚC &amp; CẤU TRÚC FILE CẤU HÌNH NGINX
</a:t>
            </a:r>
            <a:r>
              <a:rPr sz="1300">
                <a:solidFill>
                  <a:srgbClr val="475569"/>
                </a:solidFill>
                <a:latin typeface="Segoe UI" panose="020B0502040204020203"/>
              </a:rPr>
              <a:t>        ▸  Kiến trúc Event-Driven C10K, cú pháp phân cấp nginx.conf, directives</a:t>
            </a:r>
            <a:endParaRPr sz="1300">
              <a:solidFill>
                <a:srgbClr val="475569"/>
              </a:solidFill>
              <a:latin typeface="Segoe UI" panose="020B0502040204020203"/>
            </a:endParaRPr>
          </a:p>
          <a:p>
            <a:pPr>
              <a:spcBef>
                <a:spcPts val="800"/>
              </a:spcBef>
              <a:spcAft>
                <a:spcPts val="1200"/>
              </a:spcAft>
            </a:pPr>
            <a:r>
              <a:rPr sz="1600" b="1">
                <a:solidFill>
                  <a:srgbClr val="1F242E"/>
                </a:solidFill>
                <a:latin typeface="Segoe UI" panose="020B0502040204020203"/>
              </a:rPr>
              <a:t>•  PHẦN 4: DEMO THỰC CHIẾN TRÊN DỰ ÁN LUMA STORE
</a:t>
            </a:r>
            <a:r>
              <a:rPr sz="1300">
                <a:solidFill>
                  <a:srgbClr val="475569"/>
                </a:solidFill>
                <a:latin typeface="Segoe UI" panose="020B0502040204020203"/>
              </a:rPr>
              <a:t>        ▸  Chuỗi 6 kịch bản: Web Server tĩnh, CORS, Upstream, Docker, SSL</a:t>
            </a:r>
            <a:endParaRPr sz="1300">
              <a:solidFill>
                <a:srgbClr val="475569"/>
              </a:solidFill>
              <a:latin typeface="Segoe UI" panose="020B0502040204020203"/>
            </a:endParaRPr>
          </a:p>
          <a:p>
            <a:pPr>
              <a:spcBef>
                <a:spcPts val="800"/>
              </a:spcBef>
              <a:spcAft>
                <a:spcPts val="1200"/>
              </a:spcAft>
            </a:pPr>
            <a:r>
              <a:rPr sz="1600" b="1">
                <a:solidFill>
                  <a:srgbClr val="1F242E"/>
                </a:solidFill>
                <a:latin typeface="Segoe UI" panose="020B0502040204020203"/>
              </a:rPr>
              <a:t>•  PHẦN 5: TỔNG KẾT &amp; ĐÁNH GIÁ KIẾN TRÚC
</a:t>
            </a:r>
            <a:r>
              <a:rPr sz="1300">
                <a:solidFill>
                  <a:srgbClr val="475569"/>
                </a:solidFill>
                <a:latin typeface="Segoe UI" panose="020B0502040204020203"/>
              </a:rPr>
              <a:t>        ▸  Ma trận so sánh Trước/Sau, tối ưu kiến trúc &amp; Phiên thảo luận Q&amp;A</a:t>
            </a:r>
            <a:endParaRPr sz="1300">
              <a:solidFill>
                <a:srgbClr val="475569"/>
              </a:solidFill>
              <a:latin typeface="Segoe UI" panose="020B05020402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3/35</a:t>
            </a: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1: MỞ ĐẦU &amp; BỐI CẢNH DỰ ÁN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4/35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 Bài toán thực tế &amp; Đặt vấn đề</a:t>
            </a:r>
          </a:p>
        </p:txBody>
      </p:sp>
      <p:sp>
        <p:nvSpPr>
          <p:cNvPr id="9" name="TextBox 8"/>
          <p:cNvSpPr txBox="1"/>
          <p:nvPr/>
        </p:nvSpPr>
        <p:spPr>
          <a:xfrm>
            <a:off x="650000" y="1300000"/>
            <a:ext cx="10891365" cy="4700000"/>
          </a:xfrm>
          <a:prstGeom prst="rect">
            <a:avLst/>
          </a:prstGeom>
          <a:noFill/>
        </p:spPr>
        <p:txBody>
          <a:bodyPr wrap="square" lIns="0" tIns="0" rIns="0" bIns="0">
            <a:spAutoFit/>
          </a:bodyPr>
          <a:lstStyle/>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Tách biệt Frontend &amp; Backend:</a:t>
            </a:r>
            <a:r>
              <a:rPr sz="1800" b="0">
                <a:solidFill>
                  <a:srgbClr val="1F242E"/>
                </a:solidFill>
                <a:latin typeface="Segoe UI" panose="020B0502040204020203"/>
              </a:rPr>
              <a:t> Xu hướng kiến trúc SPA/Microservices hiện đại (React/Vue UI tách rời Node.js API).</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Vấn đề 1 – Lỗi vi phạm CORS:</a:t>
            </a:r>
            <a:r>
              <a:rPr sz="1800" b="0">
                <a:solidFill>
                  <a:srgbClr val="1F242E"/>
                </a:solidFill>
                <a:latin typeface="Segoe UI" panose="020B0502040204020203"/>
              </a:rPr>
              <a:t> Khác Port (</a:t>
            </a:r>
            <a:r>
              <a:rPr sz="1800" b="1">
                <a:solidFill>
                  <a:srgbClr val="1F242E"/>
                </a:solidFill>
                <a:latin typeface="Segoe UI" panose="020B0502040204020203"/>
              </a:rPr>
              <a:t>80</a:t>
            </a:r>
            <a:r>
              <a:rPr sz="1800" b="0">
                <a:solidFill>
                  <a:srgbClr val="1F242E"/>
                </a:solidFill>
                <a:latin typeface="Segoe UI" panose="020B0502040204020203"/>
              </a:rPr>
              <a:t> != </a:t>
            </a:r>
            <a:r>
              <a:rPr sz="1800" b="1">
                <a:solidFill>
                  <a:srgbClr val="1F242E"/>
                </a:solidFill>
                <a:latin typeface="Segoe UI" panose="020B0502040204020203"/>
              </a:rPr>
              <a:t>3000</a:t>
            </a:r>
            <a:r>
              <a:rPr sz="1800" b="0">
                <a:solidFill>
                  <a:srgbClr val="1F242E"/>
                </a:solidFill>
                <a:latin typeface="Segoe UI" panose="020B0502040204020203"/>
              </a:rPr>
              <a:t>), trình duyệt kích hoạt Same-Origin Policy và chặn đứng gọi API.</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Vấn đề 2 – Điểm nghẽn cổ chai (Bottleneck):</a:t>
            </a:r>
            <a:r>
              <a:rPr sz="1800" b="0">
                <a:solidFill>
                  <a:srgbClr val="1F242E"/>
                </a:solidFill>
                <a:latin typeface="Segoe UI" panose="020B0502040204020203"/>
              </a:rPr>
              <a:t> Một Backend duy nhất không gánh nổi tải lớn; nguy cơ sập toàn hệ thống (Single Point of Failure).</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Vấn đề 3 – Lộ cổng nội bộ &amp; Kém an toàn:</a:t>
            </a:r>
            <a:r>
              <a:rPr sz="1800" b="0">
                <a:solidFill>
                  <a:srgbClr val="1F242E"/>
                </a:solidFill>
                <a:latin typeface="Segoe UI" panose="020B0502040204020203"/>
              </a:rPr>
              <a:t> Phơi bày trực tiếp cổng </a:t>
            </a:r>
            <a:r>
              <a:rPr sz="1800" b="1">
                <a:solidFill>
                  <a:srgbClr val="1F242E"/>
                </a:solidFill>
                <a:latin typeface="Segoe UI" panose="020B0502040204020203"/>
              </a:rPr>
              <a:t>3000</a:t>
            </a:r>
            <a:r>
              <a:rPr sz="1800" b="0">
                <a:solidFill>
                  <a:srgbClr val="1F242E"/>
                </a:solidFill>
                <a:latin typeface="Segoe UI" panose="020B0502040204020203"/>
              </a:rPr>
              <a:t>, </a:t>
            </a:r>
            <a:r>
              <a:rPr sz="1800" b="1">
                <a:solidFill>
                  <a:srgbClr val="1F242E"/>
                </a:solidFill>
                <a:latin typeface="Segoe UI" panose="020B0502040204020203"/>
              </a:rPr>
              <a:t>3001</a:t>
            </a:r>
            <a:r>
              <a:rPr sz="1800" b="0">
                <a:solidFill>
                  <a:srgbClr val="1F242E"/>
                </a:solidFill>
                <a:latin typeface="Segoe UI" panose="020B0502040204020203"/>
              </a:rPr>
              <a:t> ra Internet; thiếu lớp phòng thủ và mã hóa SSL tập trung.</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Vấn đề 4 – Lãng phí tài nguyên Node.js:</a:t>
            </a:r>
            <a:r>
              <a:rPr sz="1800" b="0">
                <a:solidFill>
                  <a:srgbClr val="1F242E"/>
                </a:solidFill>
                <a:latin typeface="Segoe UI" panose="020B0502040204020203"/>
              </a:rPr>
              <a:t> Backend phải xử lý thêm file tĩnh (HTML</a:t>
            </a:r>
            <a:r>
              <a:rPr sz="1800" b="1">
                <a:solidFill>
                  <a:srgbClr val="1F242E"/>
                </a:solidFill>
                <a:latin typeface="Segoe UI" panose="020B0502040204020203"/>
              </a:rPr>
              <a:t>/CSS/</a:t>
            </a:r>
            <a:r>
              <a:rPr sz="1800" b="0">
                <a:solidFill>
                  <a:srgbClr val="1F242E"/>
                </a:solidFill>
                <a:latin typeface="Segoe UI" panose="020B0502040204020203"/>
              </a:rPr>
              <a:t>JS) làm chậm Event Loop xử lý nghiệp vụ nặng.</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1">
                <a:solidFill>
                  <a:srgbClr val="1F242E"/>
                </a:solidFill>
                <a:latin typeface="Segoe UI" panose="020B0502040204020203"/>
              </a:rPr>
              <a:t>Mục tiêu đặt ra:</a:t>
            </a:r>
            <a:r>
              <a:rPr sz="1800" b="0">
                <a:solidFill>
                  <a:srgbClr val="1F242E"/>
                </a:solidFill>
                <a:latin typeface="Segoe UI" panose="020B0502040204020203"/>
              </a:rPr>
              <a:t> Cần một tầng trung gian đóng vai trò Cửa ngõ (Gateway) thống nhất để vừa phát file tĩnh siêu tốc, vừa chia tải và triệt tiêu CORS.</a:t>
            </a:r>
            <a:endParaRPr sz="1800" b="0">
              <a:solidFill>
                <a:srgbClr val="1F242E"/>
              </a:solidFill>
              <a:latin typeface="Segoe UI" panose="020B050204020402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5/35</a:t>
            </a: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2: LÝ THUYẾT NỀN TẢNG MẠNG &amp; WEB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6/35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 Web Server là gì?</a:t>
            </a:r>
          </a:p>
        </p:txBody>
      </p:sp>
      <p:sp>
        <p:nvSpPr>
          <p:cNvPr id="9" name="TextBox 8"/>
          <p:cNvSpPr txBox="1"/>
          <p:nvPr/>
        </p:nvSpPr>
        <p:spPr>
          <a:xfrm>
            <a:off x="457200" y="1300000"/>
            <a:ext cx="51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Định nghĩa: Phần mềm/phần cứng nhận HTTP request và phản hồi HTTP response.</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Chức năng cốt lõi: Đọc và phục vụ </a:t>
            </a:r>
            <a:r>
              <a:rPr sz="1800" b="1">
                <a:solidFill>
                  <a:srgbClr val="1F242E"/>
                </a:solidFill>
                <a:latin typeface="Segoe UI" panose="020B0502040204020203"/>
              </a:rPr>
              <a:t>Tài nguyên tĩnh (Static Content)</a:t>
            </a:r>
            <a:r>
              <a:rPr sz="1800" b="0">
                <a:solidFill>
                  <a:srgbClr val="1F242E"/>
                </a:solidFill>
                <a:latin typeface="Segoe UI" panose="020B0502040204020203"/>
              </a:rPr>
              <a:t>: HTML, CSS, JS, Ảnh, Video.</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Xử lý tài nguyên động: Chuyển tiếp tới Web Application Server (Node.js, PHP, Java) qua FastCGI/Reverse Proxy.</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Các Web Server phổ biến: NGINX, Apache HTTP Server, Microsoft IIS, Caddy.</a:t>
            </a:r>
            <a:endParaRPr sz="1800" b="0">
              <a:solidFill>
                <a:srgbClr val="1F242E"/>
              </a:solidFill>
              <a:latin typeface="Segoe UI" panose="020B0502040204020203"/>
            </a:endParaRPr>
          </a:p>
        </p:txBody>
      </p:sp>
      <p:pic>
        <p:nvPicPr>
          <p:cNvPr id="10" name="Picture 9" descr="slide04_popular_webservers_logos.png"/>
          <p:cNvPicPr>
            <a:picLocks noChangeAspect="1"/>
          </p:cNvPicPr>
          <p:nvPr/>
        </p:nvPicPr>
        <p:blipFill>
          <a:blip r:embed="rId2"/>
          <a:stretch>
            <a:fillRect/>
          </a:stretch>
        </p:blipFill>
        <p:spPr>
          <a:xfrm>
            <a:off x="6685283" y="1300000"/>
            <a:ext cx="4243833" cy="450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7/35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2. Reverse Proxy là gì?</a:t>
            </a:r>
          </a:p>
        </p:txBody>
      </p:sp>
      <p:sp>
        <p:nvSpPr>
          <p:cNvPr id="9" name="TextBox 8"/>
          <p:cNvSpPr txBox="1"/>
          <p:nvPr/>
        </p:nvSpPr>
        <p:spPr>
          <a:xfrm>
            <a:off x="650000" y="1300000"/>
            <a:ext cx="10891365" cy="4700000"/>
          </a:xfrm>
          <a:prstGeom prst="rect">
            <a:avLst/>
          </a:prstGeom>
          <a:noFill/>
        </p:spPr>
        <p:txBody>
          <a:bodyPr wrap="square" lIns="0" tIns="0" rIns="0" bIns="0">
            <a:spAutoFit/>
          </a:bodyPr>
          <a:lstStyle/>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Định nghĩa: Máy chủ trung gian đứng trước các Backend Server, đại diện cho Server tiếp đón Client.</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Khác biệt với Forward Proxy:</a:t>
            </a:r>
            <a:endParaRPr sz="1800" b="0">
              <a:solidFill>
                <a:srgbClr val="1F242E"/>
              </a:solidFill>
              <a:latin typeface="Segoe UI" panose="020B0502040204020203"/>
            </a:endParaRPr>
          </a:p>
          <a:p>
            <a:pPr>
              <a:spcBef>
                <a:spcPts val="200"/>
              </a:spcBef>
              <a:spcAft>
                <a:spcPts val="1600"/>
              </a:spcAft>
            </a:pPr>
            <a:r>
              <a:rPr sz="1800" b="0">
                <a:solidFill>
                  <a:srgbClr val="475569"/>
                </a:solidFill>
                <a:latin typeface="Segoe UI" panose="020B0502040204020203"/>
              </a:rPr>
              <a:t>        ▸  </a:t>
            </a:r>
            <a:r>
              <a:rPr sz="1800" b="1">
                <a:solidFill>
                  <a:srgbClr val="1F242E"/>
                </a:solidFill>
                <a:latin typeface="Segoe UI" panose="020B0502040204020203"/>
              </a:rPr>
              <a:t>Forward Proxy:</a:t>
            </a:r>
            <a:r>
              <a:rPr sz="1800" b="0">
                <a:solidFill>
                  <a:srgbClr val="475569"/>
                </a:solidFill>
                <a:latin typeface="Segoe UI" panose="020B0502040204020203"/>
              </a:rPr>
              <a:t> Bảo vệ &amp; đại diện cho Client (Vượt tường lửa, ẩn IP Client).</a:t>
            </a:r>
            <a:endParaRPr sz="1800" b="0">
              <a:solidFill>
                <a:srgbClr val="475569"/>
              </a:solidFill>
              <a:latin typeface="Segoe UI" panose="020B0502040204020203"/>
            </a:endParaRPr>
          </a:p>
          <a:p>
            <a:pPr>
              <a:spcBef>
                <a:spcPts val="200"/>
              </a:spcBef>
              <a:spcAft>
                <a:spcPts val="1600"/>
              </a:spcAft>
            </a:pPr>
            <a:r>
              <a:rPr sz="1800" b="0">
                <a:solidFill>
                  <a:srgbClr val="475569"/>
                </a:solidFill>
                <a:latin typeface="Segoe UI" panose="020B0502040204020203"/>
              </a:rPr>
              <a:t>        ▸  </a:t>
            </a:r>
            <a:r>
              <a:rPr sz="1800" b="1">
                <a:solidFill>
                  <a:srgbClr val="1F242E"/>
                </a:solidFill>
                <a:latin typeface="Segoe UI" panose="020B0502040204020203"/>
              </a:rPr>
              <a:t>Reverse Proxy:</a:t>
            </a:r>
            <a:r>
              <a:rPr sz="1800" b="0">
                <a:solidFill>
                  <a:srgbClr val="475569"/>
                </a:solidFill>
                <a:latin typeface="Segoe UI" panose="020B0502040204020203"/>
              </a:rPr>
              <a:t> Bảo vệ &amp; đại diện cho Backend (Ẩn cấu trúc server, chia tải).</a:t>
            </a:r>
            <a:endParaRPr sz="1800" b="0">
              <a:solidFill>
                <a:srgbClr val="475569"/>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4 Lợi ích sống còn:</a:t>
            </a:r>
            <a:endParaRPr sz="1800" b="0">
              <a:solidFill>
                <a:srgbClr val="1F242E"/>
              </a:solidFill>
              <a:latin typeface="Segoe UI" panose="020B0502040204020203"/>
            </a:endParaRPr>
          </a:p>
          <a:p>
            <a:pPr>
              <a:spcBef>
                <a:spcPts val="200"/>
              </a:spcBef>
              <a:spcAft>
                <a:spcPts val="1600"/>
              </a:spcAft>
            </a:pPr>
            <a:r>
              <a:rPr sz="1800" b="0">
                <a:solidFill>
                  <a:srgbClr val="475569"/>
                </a:solidFill>
                <a:latin typeface="Segoe UI" panose="020B0502040204020203"/>
              </a:rPr>
              <a:t>        ▸  </a:t>
            </a:r>
            <a:r>
              <a:rPr sz="1800" b="0">
                <a:solidFill>
                  <a:srgbClr val="475569"/>
                </a:solidFill>
                <a:latin typeface="Segoe UI" panose="020B0502040204020203"/>
              </a:rPr>
              <a:t>Ẩn danh Server thật &amp; Bảo mật cổng nội bộ.</a:t>
            </a:r>
            <a:endParaRPr sz="1800" b="0">
              <a:solidFill>
                <a:srgbClr val="475569"/>
              </a:solidFill>
              <a:latin typeface="Segoe UI" panose="020B0502040204020203"/>
            </a:endParaRPr>
          </a:p>
          <a:p>
            <a:pPr>
              <a:spcBef>
                <a:spcPts val="200"/>
              </a:spcBef>
              <a:spcAft>
                <a:spcPts val="1600"/>
              </a:spcAft>
            </a:pPr>
            <a:r>
              <a:rPr sz="1800" b="0">
                <a:solidFill>
                  <a:srgbClr val="475569"/>
                </a:solidFill>
                <a:latin typeface="Segoe UI" panose="020B0502040204020203"/>
              </a:rPr>
              <a:t>        ▸  </a:t>
            </a:r>
            <a:r>
              <a:rPr sz="1800" b="0">
                <a:solidFill>
                  <a:srgbClr val="475569"/>
                </a:solidFill>
                <a:latin typeface="Segoe UI" panose="020B0502040204020203"/>
              </a:rPr>
              <a:t>Cân bằng tải (Load Balancing) cho nhiều máy chủ con.</a:t>
            </a:r>
            <a:endParaRPr sz="1800" b="0">
              <a:solidFill>
                <a:srgbClr val="475569"/>
              </a:solidFill>
              <a:latin typeface="Segoe UI" panose="020B0502040204020203"/>
            </a:endParaRPr>
          </a:p>
          <a:p>
            <a:pPr>
              <a:spcBef>
                <a:spcPts val="200"/>
              </a:spcBef>
              <a:spcAft>
                <a:spcPts val="1600"/>
              </a:spcAft>
            </a:pPr>
            <a:r>
              <a:rPr sz="1800" b="0">
                <a:solidFill>
                  <a:srgbClr val="475569"/>
                </a:solidFill>
                <a:latin typeface="Segoe UI" panose="020B0502040204020203"/>
              </a:rPr>
              <a:t>        ▸  </a:t>
            </a:r>
            <a:r>
              <a:rPr sz="1800" b="0">
                <a:solidFill>
                  <a:srgbClr val="475569"/>
                </a:solidFill>
                <a:latin typeface="Segoe UI" panose="020B0502040204020203"/>
              </a:rPr>
              <a:t>Triệt tiêu hoàn toàn lỗi CORS trong kiến trúc vi dịch vụ.</a:t>
            </a:r>
            <a:endParaRPr sz="1800" b="0">
              <a:solidFill>
                <a:srgbClr val="475569"/>
              </a:solidFill>
              <a:latin typeface="Segoe UI" panose="020B0502040204020203"/>
            </a:endParaRPr>
          </a:p>
          <a:p>
            <a:pPr>
              <a:spcBef>
                <a:spcPts val="200"/>
              </a:spcBef>
              <a:spcAft>
                <a:spcPts val="1600"/>
              </a:spcAft>
            </a:pPr>
            <a:r>
              <a:rPr sz="1800" b="0">
                <a:solidFill>
                  <a:srgbClr val="475569"/>
                </a:solidFill>
                <a:latin typeface="Segoe UI" panose="020B0502040204020203"/>
              </a:rPr>
              <a:t>        ▸  </a:t>
            </a:r>
            <a:r>
              <a:rPr sz="1800" b="0">
                <a:solidFill>
                  <a:srgbClr val="475569"/>
                </a:solidFill>
                <a:latin typeface="Segoe UI" panose="020B0502040204020203"/>
              </a:rPr>
              <a:t>SSL Termination (Tập trung giải mã HTTPS tại cửa ngõ).</a:t>
            </a:r>
            <a:endParaRPr sz="1800" b="0">
              <a:solidFill>
                <a:srgbClr val="475569"/>
              </a:solidFill>
              <a:latin typeface="Segoe UI" panose="020B050204020402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8/35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3. Hạ tầng mạng: IP (Internet Protocol)</a:t>
            </a:r>
          </a:p>
        </p:txBody>
      </p:sp>
      <p:sp>
        <p:nvSpPr>
          <p:cNvPr id="9" name="TextBox 8"/>
          <p:cNvSpPr txBox="1"/>
          <p:nvPr/>
        </p:nvSpPr>
        <p:spPr>
          <a:xfrm>
            <a:off x="457200" y="1300000"/>
            <a:ext cx="51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Định danh duy nhất của thiết bị trên không gian mạng.</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Phân loại dải IP: Public IP (Internet) vs Private IP (Mạng nội bộ).</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Loopback IP: </a:t>
            </a:r>
            <a:r>
              <a:rPr sz="1800" b="1">
                <a:solidFill>
                  <a:srgbClr val="1F242E"/>
                </a:solidFill>
                <a:latin typeface="Segoe UI" panose="020B0502040204020203"/>
              </a:rPr>
              <a:t>127.0.0.1</a:t>
            </a:r>
            <a:r>
              <a:rPr sz="1800" b="0">
                <a:solidFill>
                  <a:srgbClr val="1F242E"/>
                </a:solidFill>
                <a:latin typeface="Segoe UI" panose="020B0502040204020203"/>
              </a:rPr>
              <a:t> (Chính máy cục bộ / Localhost).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Đóng gói và định tuyến gói tin đến đúng máy chủ vật lý.</a:t>
            </a:r>
            <a:endParaRPr sz="1800" b="0">
              <a:solidFill>
                <a:srgbClr val="1F242E"/>
              </a:solidFill>
              <a:latin typeface="Segoe UI" panose="020B0502040204020203"/>
            </a:endParaRPr>
          </a:p>
        </p:txBody>
      </p:sp>
      <p:pic>
        <p:nvPicPr>
          <p:cNvPr id="10" name="Picture 9" descr="slide06_ip_address_concept.png"/>
          <p:cNvPicPr>
            <a:picLocks noChangeAspect="1"/>
          </p:cNvPicPr>
          <p:nvPr/>
        </p:nvPicPr>
        <p:blipFill>
          <a:blip r:embed="rId2"/>
          <a:stretch>
            <a:fillRect/>
          </a:stretch>
        </p:blipFill>
        <p:spPr>
          <a:xfrm>
            <a:off x="5907200" y="1599782"/>
            <a:ext cx="5800000" cy="39004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9/35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4. Hạ tầng mạng: Port (Cổng giao tiếp)</a:t>
            </a:r>
          </a:p>
        </p:txBody>
      </p:sp>
      <p:sp>
        <p:nvSpPr>
          <p:cNvPr id="9" name="TextBox 8"/>
          <p:cNvSpPr txBox="1"/>
          <p:nvPr/>
        </p:nvSpPr>
        <p:spPr>
          <a:xfrm>
            <a:off x="457200" y="1300000"/>
            <a:ext cx="51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Cửa ngõ định tuyến đến từng tiến trình ứng dụng cụ thể trên OS.</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Dải port: 0 đến 65535 (Socket mạng = IP + Port).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Port tiêu chuẩn: </a:t>
            </a:r>
            <a:r>
              <a:rPr sz="1800" b="1">
                <a:solidFill>
                  <a:srgbClr val="1F242E"/>
                </a:solidFill>
                <a:latin typeface="Segoe UI" panose="020B0502040204020203"/>
              </a:rPr>
              <a:t>80</a:t>
            </a:r>
            <a:r>
              <a:rPr sz="1800" b="0">
                <a:solidFill>
                  <a:srgbClr val="1F242E"/>
                </a:solidFill>
                <a:latin typeface="Segoe UI" panose="020B0502040204020203"/>
              </a:rPr>
              <a:t> (HTTP), </a:t>
            </a:r>
            <a:r>
              <a:rPr sz="1800" b="1">
                <a:solidFill>
                  <a:srgbClr val="1F242E"/>
                </a:solidFill>
                <a:latin typeface="Segoe UI" panose="020B0502040204020203"/>
              </a:rPr>
              <a:t>443</a:t>
            </a:r>
            <a:r>
              <a:rPr sz="1800" b="0">
                <a:solidFill>
                  <a:srgbClr val="1F242E"/>
                </a:solidFill>
                <a:latin typeface="Segoe UI" panose="020B0502040204020203"/>
              </a:rPr>
              <a:t> (HTTPS).</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Port ứng dụng phát triển: </a:t>
            </a:r>
            <a:r>
              <a:rPr sz="1800" b="1">
                <a:solidFill>
                  <a:srgbClr val="1F242E"/>
                </a:solidFill>
                <a:latin typeface="Segoe UI" panose="020B0502040204020203"/>
              </a:rPr>
              <a:t>3000</a:t>
            </a:r>
            <a:r>
              <a:rPr sz="1800" b="0">
                <a:solidFill>
                  <a:srgbClr val="1F242E"/>
                </a:solidFill>
                <a:latin typeface="Segoe UI" panose="020B0502040204020203"/>
              </a:rPr>
              <a:t> (Node.js API), </a:t>
            </a:r>
            <a:r>
              <a:rPr sz="1800" b="1">
                <a:solidFill>
                  <a:srgbClr val="1F242E"/>
                </a:solidFill>
                <a:latin typeface="Segoe UI" panose="020B0502040204020203"/>
              </a:rPr>
              <a:t>8080</a:t>
            </a:r>
            <a:r>
              <a:rPr sz="1800" b="0">
                <a:solidFill>
                  <a:srgbClr val="1F242E"/>
                </a:solidFill>
                <a:latin typeface="Segoe UI" panose="020B0502040204020203"/>
              </a:rPr>
              <a:t> (Web dev).</a:t>
            </a:r>
            <a:endParaRPr sz="1800" b="0">
              <a:solidFill>
                <a:srgbClr val="1F242E"/>
              </a:solidFill>
              <a:latin typeface="Segoe UI" panose="020B0502040204020203"/>
            </a:endParaRPr>
          </a:p>
        </p:txBody>
      </p:sp>
      <p:pic>
        <p:nvPicPr>
          <p:cNvPr id="10" name="Picture 9" descr="slide07_network_ports_diagram.jpg"/>
          <p:cNvPicPr>
            <a:picLocks noChangeAspect="1"/>
          </p:cNvPicPr>
          <p:nvPr/>
        </p:nvPicPr>
        <p:blipFill>
          <a:blip r:embed="rId2"/>
          <a:stretch>
            <a:fillRect/>
          </a:stretch>
        </p:blipFill>
        <p:spPr>
          <a:xfrm>
            <a:off x="5907200" y="1931395"/>
            <a:ext cx="5800000" cy="32372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10/35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5. Phân giải tên miền: Domain &amp; Hệ thống DNS</a:t>
            </a:r>
          </a:p>
        </p:txBody>
      </p:sp>
      <p:sp>
        <p:nvSpPr>
          <p:cNvPr id="9" name="TextBox 8"/>
          <p:cNvSpPr txBox="1"/>
          <p:nvPr/>
        </p:nvSpPr>
        <p:spPr>
          <a:xfrm>
            <a:off x="457200" y="1300000"/>
            <a:ext cx="51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Domain: Tên định danh dễ nhớ (VD: </a:t>
            </a:r>
            <a:r>
              <a:rPr sz="1800" b="1">
                <a:solidFill>
                  <a:srgbClr val="1F242E"/>
                </a:solidFill>
                <a:latin typeface="Segoe UI" panose="020B0502040204020203"/>
              </a:rPr>
              <a:t>huce.edu.vn</a:t>
            </a:r>
            <a:r>
              <a:rPr sz="1800" b="0">
                <a:solidFill>
                  <a:srgbClr val="1F242E"/>
                </a:solidFill>
                <a:latin typeface="Segoe UI" panose="020B0502040204020203"/>
              </a:rPr>
              <a:t>, </a:t>
            </a:r>
            <a:r>
              <a:rPr sz="1800" b="1">
                <a:solidFill>
                  <a:srgbClr val="1F242E"/>
                </a:solidFill>
                <a:latin typeface="Segoe UI" panose="020B0502040204020203"/>
              </a:rPr>
              <a:t>luma-store.com</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DNS (Domain Name System): "Danh bạ Internet" biên dịch Domain thành IP.</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Trình duyệt truy vấn DNS trước khi khởi tạo kết nối TCP.</a:t>
            </a:r>
            <a:endParaRPr sz="1800" b="0">
              <a:solidFill>
                <a:srgbClr val="1F242E"/>
              </a:solidFill>
              <a:latin typeface="Segoe UI" panose="020B0502040204020203"/>
            </a:endParaRPr>
          </a:p>
        </p:txBody>
      </p:sp>
      <p:pic>
        <p:nvPicPr>
          <p:cNvPr id="10" name="Picture 9" descr="slide08_dns_domain_resolution.jpg"/>
          <p:cNvPicPr>
            <a:picLocks noChangeAspect="1"/>
          </p:cNvPicPr>
          <p:nvPr/>
        </p:nvPicPr>
        <p:blipFill>
          <a:blip r:embed="rId2"/>
          <a:stretch>
            <a:fillRect/>
          </a:stretch>
        </p:blipFill>
        <p:spPr>
          <a:xfrm>
            <a:off x="5907200" y="1931395"/>
            <a:ext cx="5800000" cy="32372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11/35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6. File `/etc/hosts` – "DNS Cục bộ" trên máy tính</a:t>
            </a:r>
          </a:p>
        </p:txBody>
      </p:sp>
      <p:sp>
        <p:nvSpPr>
          <p:cNvPr id="9" name="TextBox 8"/>
          <p:cNvSpPr txBox="1"/>
          <p:nvPr/>
        </p:nvSpPr>
        <p:spPr>
          <a:xfrm>
            <a:off x="457200" y="1300000"/>
            <a:ext cx="51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Bảng tra cứu tên miền tĩnh có mức ưu tiên cao nhất của hệ điều hành.</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Luôn được kiểm tra trước khi hỏi DNS Server công cộng ngoài Internet.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Ứng dụng: Giả lập Domain thật trong môi trường Dev/Staging.</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Cú pháp: </a:t>
            </a:r>
            <a:r>
              <a:rPr sz="1800" b="1">
                <a:solidFill>
                  <a:srgbClr val="1F242E"/>
                </a:solidFill>
                <a:latin typeface="Segoe UI" panose="020B0502040204020203"/>
              </a:rPr>
              <a:t>&lt;Địa chỉ IP&gt;    &lt;Tên miền giả lập&gt;</a:t>
            </a:r>
            <a:r>
              <a:rPr sz="1800" b="0">
                <a:solidFill>
                  <a:srgbClr val="1F242E"/>
                </a:solidFill>
                <a:latin typeface="Segoe UI" panose="020B0502040204020203"/>
              </a:rPr>
              <a:t> (VD: </a:t>
            </a:r>
            <a:r>
              <a:rPr sz="1800" b="1">
                <a:solidFill>
                  <a:srgbClr val="1F242E"/>
                </a:solidFill>
                <a:latin typeface="Segoe UI" panose="020B0502040204020203"/>
              </a:rPr>
              <a:t>127.0.0.1  luma-store.local</a:t>
            </a:r>
            <a:r>
              <a:rPr sz="1800" b="0">
                <a:solidFill>
                  <a:srgbClr val="1F242E"/>
                </a:solidFill>
                <a:latin typeface="Segoe UI" panose="020B0502040204020203"/>
              </a:rPr>
              <a:t>).</a:t>
            </a:r>
            <a:endParaRPr sz="1800" b="0">
              <a:solidFill>
                <a:srgbClr val="1F242E"/>
              </a:solidFill>
              <a:latin typeface="Segoe UI" panose="020B0502040204020203"/>
            </a:endParaRPr>
          </a:p>
        </p:txBody>
      </p:sp>
      <p:pic>
        <p:nvPicPr>
          <p:cNvPr id="10" name="Picture 9" descr="slide09_etc_hosts_mapping.png"/>
          <p:cNvPicPr>
            <a:picLocks noChangeAspect="1"/>
          </p:cNvPicPr>
          <p:nvPr/>
        </p:nvPicPr>
        <p:blipFill>
          <a:blip r:embed="rId2"/>
          <a:stretch>
            <a:fillRect/>
          </a:stretch>
        </p:blipFill>
        <p:spPr>
          <a:xfrm>
            <a:off x="5907200" y="1328305"/>
            <a:ext cx="5800000" cy="44433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12/35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7. Phân biệt 3 môi trường cấu hình File Hosts</a:t>
            </a:r>
          </a:p>
        </p:txBody>
      </p:sp>
      <p:sp>
        <p:nvSpPr>
          <p:cNvPr id="9" name="TextBox 8"/>
          <p:cNvSpPr txBox="1"/>
          <p:nvPr/>
        </p:nvSpPr>
        <p:spPr>
          <a:xfrm>
            <a:off x="650000" y="1200000"/>
            <a:ext cx="10891365" cy="1300000"/>
          </a:xfrm>
          <a:prstGeom prst="rect">
            <a:avLst/>
          </a:prstGeom>
          <a:noFill/>
        </p:spPr>
        <p:txBody>
          <a:bodyPr wrap="square" lIns="0" tIns="0" rIns="0" bIns="0">
            <a:spAutoFit/>
          </a:bodyPr>
          <a:lstStyle/>
          <a:p>
            <a:pPr>
              <a:spcBef>
                <a:spcPts val="200"/>
              </a:spcBef>
              <a:spcAft>
                <a:spcPts val="600"/>
              </a:spcAft>
            </a:pPr>
            <a:r>
              <a:rPr sz="1800" b="1">
                <a:solidFill>
                  <a:srgbClr val="880C10"/>
                </a:solidFill>
                <a:latin typeface="Segoe UI" panose="020B0502040204020203"/>
              </a:rPr>
              <a:t>•  </a:t>
            </a:r>
            <a:r>
              <a:rPr sz="1800" b="1">
                <a:solidFill>
                  <a:srgbClr val="1F242E"/>
                </a:solidFill>
                <a:latin typeface="Segoe UI" panose="020B0502040204020203"/>
              </a:rPr>
              <a:t>Windows native:</a:t>
            </a:r>
            <a:r>
              <a:rPr sz="1800" b="0">
                <a:solidFill>
                  <a:srgbClr val="1F242E"/>
                </a:solidFill>
                <a:latin typeface="Segoe UI" panose="020B0502040204020203"/>
              </a:rPr>
              <a:t> Sửa file </a:t>
            </a:r>
            <a:r>
              <a:rPr sz="1800" b="1">
                <a:solidFill>
                  <a:srgbClr val="1F242E"/>
                </a:solidFill>
                <a:latin typeface="Segoe UI" panose="020B0502040204020203"/>
              </a:rPr>
              <a:t>C:\Windows\System32\drivers\etc\hosts</a:t>
            </a:r>
            <a:r>
              <a:rPr sz="1800" b="0">
                <a:solidFill>
                  <a:srgbClr val="1F242E"/>
                </a:solidFill>
                <a:latin typeface="Segoe UI" panose="020B0502040204020203"/>
              </a:rPr>
              <a:t> (Run as Admin).</a:t>
            </a:r>
            <a:endParaRPr sz="1800" b="0">
              <a:solidFill>
                <a:srgbClr val="1F242E"/>
              </a:solidFill>
              <a:latin typeface="Segoe UI" panose="020B0502040204020203"/>
            </a:endParaRPr>
          </a:p>
          <a:p>
            <a:pPr>
              <a:spcBef>
                <a:spcPts val="200"/>
              </a:spcBef>
              <a:spcAft>
                <a:spcPts val="600"/>
              </a:spcAft>
            </a:pPr>
            <a:r>
              <a:rPr sz="1800" b="1">
                <a:solidFill>
                  <a:srgbClr val="880C10"/>
                </a:solidFill>
                <a:latin typeface="Segoe UI" panose="020B0502040204020203"/>
              </a:rPr>
              <a:t>•  </a:t>
            </a:r>
            <a:r>
              <a:rPr sz="1800" b="1">
                <a:solidFill>
                  <a:srgbClr val="1F242E"/>
                </a:solidFill>
                <a:latin typeface="Segoe UI" panose="020B0502040204020203"/>
              </a:rPr>
              <a:t>Linux thuần:</a:t>
            </a:r>
            <a:r>
              <a:rPr sz="1800" b="0">
                <a:solidFill>
                  <a:srgbClr val="1F242E"/>
                </a:solidFill>
                <a:latin typeface="Segoe UI" panose="020B0502040204020203"/>
              </a:rPr>
              <a:t> Sửa </a:t>
            </a:r>
            <a:r>
              <a:rPr sz="1800" b="1">
                <a:solidFill>
                  <a:srgbClr val="1F242E"/>
                </a:solidFill>
                <a:latin typeface="Segoe UI" panose="020B0502040204020203"/>
              </a:rPr>
              <a:t>/etc/hosts</a:t>
            </a:r>
            <a:r>
              <a:rPr sz="1800" b="0">
                <a:solidFill>
                  <a:srgbClr val="1F242E"/>
                </a:solidFill>
                <a:latin typeface="Segoe UI" panose="020B0502040204020203"/>
              </a:rPr>
              <a:t> trực tiếp bằng quyền </a:t>
            </a:r>
            <a:r>
              <a:rPr sz="1800" b="1">
                <a:solidFill>
                  <a:srgbClr val="1F242E"/>
                </a:solidFill>
                <a:latin typeface="Segoe UI" panose="020B0502040204020203"/>
              </a:rPr>
              <a:t>sudo nano /etc/hosts</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600"/>
              </a:spcAft>
            </a:pPr>
            <a:r>
              <a:rPr sz="1800" b="1">
                <a:solidFill>
                  <a:srgbClr val="880C10"/>
                </a:solidFill>
                <a:latin typeface="Segoe UI" panose="020B0502040204020203"/>
              </a:rPr>
              <a:t>•  </a:t>
            </a:r>
            <a:r>
              <a:rPr sz="1800" b="1">
                <a:solidFill>
                  <a:srgbClr val="1F242E"/>
                </a:solidFill>
                <a:latin typeface="Segoe UI" panose="020B0502040204020203"/>
              </a:rPr>
              <a:t>WSL2 + Trình duyệt Windows:</a:t>
            </a:r>
            <a:r>
              <a:rPr sz="1800" b="0">
                <a:solidFill>
                  <a:srgbClr val="1F242E"/>
                </a:solidFill>
                <a:latin typeface="Segoe UI" panose="020B0502040204020203"/>
              </a:rPr>
              <a:t> BẮT BUỘC sửa file hosts trên </a:t>
            </a:r>
            <a:r>
              <a:rPr sz="1800" b="1">
                <a:solidFill>
                  <a:srgbClr val="1F242E"/>
                </a:solidFill>
                <a:latin typeface="Segoe UI" panose="020B0502040204020203"/>
              </a:rPr>
              <a:t>Windows Host</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600"/>
              </a:spcAft>
            </a:pPr>
            <a:r>
              <a:rPr sz="1800" b="1">
                <a:solidFill>
                  <a:srgbClr val="880C10"/>
                </a:solidFill>
                <a:latin typeface="Segoe UI" panose="020B0502040204020203"/>
              </a:rPr>
              <a:t>•  </a:t>
            </a:r>
            <a:r>
              <a:rPr sz="1800" b="0">
                <a:solidFill>
                  <a:srgbClr val="1F242E"/>
                </a:solidFill>
                <a:latin typeface="Segoe UI" panose="020B0502040204020203"/>
              </a:rPr>
              <a:t>Lý do: Trình duyệt chạy trên OS mẹ, truy vấn DNS từ hệ điều hành mẹ.</a:t>
            </a:r>
            <a:endParaRPr sz="1800" b="0">
              <a:solidFill>
                <a:srgbClr val="1F242E"/>
              </a:solidFill>
              <a:latin typeface="Segoe UI" panose="020B0502040204020203"/>
            </a:endParaRPr>
          </a:p>
        </p:txBody>
      </p:sp>
      <p:graphicFrame>
        <p:nvGraphicFramePr>
          <p:cNvPr id="10" name="Table 9"/>
          <p:cNvGraphicFramePr>
            <a:graphicFrameLocks noGrp="1"/>
          </p:cNvGraphicFramePr>
          <p:nvPr/>
        </p:nvGraphicFramePr>
        <p:xfrm>
          <a:off x="500000" y="2700000"/>
          <a:ext cx="11191365" cy="3200000"/>
        </p:xfrm>
        <a:graphic>
          <a:graphicData uri="http://schemas.openxmlformats.org/drawingml/2006/table">
            <a:tbl>
              <a:tblPr firstRow="1" bandRow="1">
                <a:tableStyleId>{5C22544A-7EE6-4342-B048-85BDC9FD1C3A}</a:tableStyleId>
              </a:tblPr>
              <a:tblGrid>
                <a:gridCol w="2200000"/>
                <a:gridCol w="3000000"/>
                <a:gridCol w="3000000"/>
                <a:gridCol w="2991365"/>
              </a:tblGrid>
              <a:tr h="640000">
                <a:tc>
                  <a:txBody>
                    <a:bodyPr/>
                    <a:lstStyle/>
                    <a:p>
                      <a:pPr algn="ctr">
                        <a:defRPr sz="1400" b="1">
                          <a:solidFill>
                            <a:srgbClr val="FFFFFF"/>
                          </a:solidFill>
                          <a:latin typeface="Segoe UI" panose="020B0502040204020203"/>
                        </a:defRPr>
                      </a:pPr>
                      <a:r>
                        <a:t>Tiêu chí</a:t>
                      </a:r>
                    </a:p>
                  </a:txBody>
                  <a:tcPr anchor="ctr">
                    <a:solidFill>
                      <a:srgbClr val="880C10"/>
                    </a:solidFill>
                  </a:tcPr>
                </a:tc>
                <a:tc>
                  <a:txBody>
                    <a:bodyPr/>
                    <a:lstStyle/>
                    <a:p>
                      <a:pPr algn="ctr">
                        <a:defRPr sz="1400" b="1">
                          <a:solidFill>
                            <a:srgbClr val="FFFFFF"/>
                          </a:solidFill>
                          <a:latin typeface="Segoe UI" panose="020B0502040204020203"/>
                        </a:defRPr>
                      </a:pPr>
                      <a:r>
                        <a:t>Windows Native</a:t>
                      </a:r>
                    </a:p>
                  </a:txBody>
                  <a:tcPr anchor="ctr">
                    <a:solidFill>
                      <a:srgbClr val="880C10"/>
                    </a:solidFill>
                  </a:tcPr>
                </a:tc>
                <a:tc>
                  <a:txBody>
                    <a:bodyPr/>
                    <a:lstStyle/>
                    <a:p>
                      <a:pPr algn="ctr">
                        <a:defRPr sz="1400" b="1">
                          <a:solidFill>
                            <a:srgbClr val="FFFFFF"/>
                          </a:solidFill>
                          <a:latin typeface="Segoe UI" panose="020B0502040204020203"/>
                        </a:defRPr>
                      </a:pPr>
                      <a:r>
                        <a:t>WSL2 + Chrome Win</a:t>
                      </a:r>
                    </a:p>
                  </a:txBody>
                  <a:tcPr anchor="ctr">
                    <a:solidFill>
                      <a:srgbClr val="880C10"/>
                    </a:solidFill>
                  </a:tcPr>
                </a:tc>
                <a:tc>
                  <a:txBody>
                    <a:bodyPr/>
                    <a:lstStyle/>
                    <a:p>
                      <a:pPr algn="ctr">
                        <a:defRPr sz="1400" b="1">
                          <a:solidFill>
                            <a:srgbClr val="FFFFFF"/>
                          </a:solidFill>
                          <a:latin typeface="Segoe UI" panose="020B0502040204020203"/>
                        </a:defRPr>
                      </a:pPr>
                      <a:r>
                        <a:t>Linux / Ubuntu</a:t>
                      </a:r>
                    </a:p>
                  </a:txBody>
                  <a:tcPr anchor="ctr">
                    <a:solidFill>
                      <a:srgbClr val="880C10"/>
                    </a:solidFill>
                  </a:tcPr>
                </a:tc>
              </a:tr>
              <a:tr h="640000">
                <a:tc>
                  <a:txBody>
                    <a:bodyPr/>
                    <a:lstStyle/>
                    <a:p>
                      <a:pPr algn="ctr">
                        <a:defRPr sz="1300" b="1">
                          <a:solidFill>
                            <a:srgbClr val="1F242E"/>
                          </a:solidFill>
                          <a:latin typeface="Segoe UI" panose="020B0502040204020203"/>
                        </a:defRPr>
                      </a:pPr>
                      <a:r>
                        <a:t>Đường dẫn file</a:t>
                      </a:r>
                    </a:p>
                  </a:txBody>
                  <a:tcPr anchor="ctr">
                    <a:solidFill>
                      <a:srgbClr val="F1F5F9"/>
                    </a:solidFill>
                  </a:tcPr>
                </a:tc>
                <a:tc>
                  <a:txBody>
                    <a:bodyPr/>
                    <a:lstStyle/>
                    <a:p>
                      <a:pPr algn="ctr">
                        <a:defRPr sz="1300">
                          <a:solidFill>
                            <a:srgbClr val="1F242E"/>
                          </a:solidFill>
                          <a:latin typeface="Segoe UI" panose="020B0502040204020203"/>
                        </a:defRPr>
                      </a:pPr>
                      <a:r>
                        <a:t>C:\Windows\System32\</a:t>
                      </a:r>
                      <a:br/>
                      <a:r>
                        <a:t>drivers\etc\hosts</a:t>
                      </a:r>
                    </a:p>
                  </a:txBody>
                  <a:tcPr anchor="ctr">
                    <a:solidFill>
                      <a:srgbClr val="FFFFFF"/>
                    </a:solidFill>
                  </a:tcPr>
                </a:tc>
                <a:tc>
                  <a:txBody>
                    <a:bodyPr/>
                    <a:lstStyle/>
                    <a:p>
                      <a:pPr algn="ctr">
                        <a:defRPr sz="1300">
                          <a:solidFill>
                            <a:srgbClr val="1F242E"/>
                          </a:solidFill>
                          <a:latin typeface="Segoe UI" panose="020B0502040204020203"/>
                        </a:defRPr>
                      </a:pPr>
                      <a:r>
                        <a:t>Sửa file hosts</a:t>
                      </a:r>
                      <a:br/>
                      <a:r>
                        <a:t>của Windows Host</a:t>
                      </a:r>
                    </a:p>
                  </a:txBody>
                  <a:tcPr anchor="ctr">
                    <a:solidFill>
                      <a:srgbClr val="FFFFFF"/>
                    </a:solidFill>
                  </a:tcPr>
                </a:tc>
                <a:tc>
                  <a:txBody>
                    <a:bodyPr/>
                    <a:lstStyle/>
                    <a:p>
                      <a:pPr algn="ctr">
                        <a:defRPr sz="1300">
                          <a:solidFill>
                            <a:srgbClr val="1F242E"/>
                          </a:solidFill>
                          <a:latin typeface="Segoe UI" panose="020B0502040204020203"/>
                        </a:defRPr>
                      </a:pPr>
                      <a:r>
                        <a:t>/etc/hosts</a:t>
                      </a:r>
                    </a:p>
                  </a:txBody>
                  <a:tcPr anchor="ctr">
                    <a:solidFill>
                      <a:srgbClr val="FFFFFF"/>
                    </a:solidFill>
                  </a:tcPr>
                </a:tc>
              </a:tr>
              <a:tr h="640000">
                <a:tc>
                  <a:txBody>
                    <a:bodyPr/>
                    <a:lstStyle/>
                    <a:p>
                      <a:pPr algn="ctr">
                        <a:defRPr sz="1300" b="1">
                          <a:solidFill>
                            <a:srgbClr val="1F242E"/>
                          </a:solidFill>
                          <a:latin typeface="Segoe UI" panose="020B0502040204020203"/>
                        </a:defRPr>
                      </a:pPr>
                      <a:r>
                        <a:t>Lệnh mở sửa</a:t>
                      </a:r>
                    </a:p>
                  </a:txBody>
                  <a:tcPr anchor="ctr">
                    <a:solidFill>
                      <a:srgbClr val="F1F5F9"/>
                    </a:solidFill>
                  </a:tcPr>
                </a:tc>
                <a:tc>
                  <a:txBody>
                    <a:bodyPr/>
                    <a:lstStyle/>
                    <a:p>
                      <a:pPr algn="ctr">
                        <a:defRPr sz="1300">
                          <a:solidFill>
                            <a:srgbClr val="1F242E"/>
                          </a:solidFill>
                          <a:latin typeface="Segoe UI" panose="020B0502040204020203"/>
                        </a:defRPr>
                      </a:pPr>
                      <a:r>
                        <a:t>Run Notepad</a:t>
                      </a:r>
                      <a:br/>
                      <a:r>
                        <a:t>as Administrator</a:t>
                      </a:r>
                    </a:p>
                  </a:txBody>
                  <a:tcPr anchor="ctr">
                    <a:solidFill>
                      <a:srgbClr val="FFFFFF"/>
                    </a:solidFill>
                  </a:tcPr>
                </a:tc>
                <a:tc>
                  <a:txBody>
                    <a:bodyPr/>
                    <a:lstStyle/>
                    <a:p>
                      <a:pPr algn="ctr">
                        <a:defRPr sz="1300">
                          <a:solidFill>
                            <a:srgbClr val="1F242E"/>
                          </a:solidFill>
                          <a:latin typeface="Segoe UI" panose="020B0502040204020203"/>
                        </a:defRPr>
                      </a:pPr>
                      <a:r>
                        <a:t>Sửa trên Windows</a:t>
                      </a:r>
                      <a:br/>
                      <a:r>
                        <a:t>(không sửa trong WSL)</a:t>
                      </a:r>
                    </a:p>
                  </a:txBody>
                  <a:tcPr anchor="ctr">
                    <a:solidFill>
                      <a:srgbClr val="FFFFFF"/>
                    </a:solidFill>
                  </a:tcPr>
                </a:tc>
                <a:tc>
                  <a:txBody>
                    <a:bodyPr/>
                    <a:lstStyle/>
                    <a:p>
                      <a:pPr algn="ctr">
                        <a:defRPr sz="1300">
                          <a:solidFill>
                            <a:srgbClr val="1F242E"/>
                          </a:solidFill>
                          <a:latin typeface="Segoe UI" panose="020B0502040204020203"/>
                        </a:defRPr>
                      </a:pPr>
                      <a:r>
                        <a:t>sudo nano</a:t>
                      </a:r>
                      <a:br/>
                      <a:r>
                        <a:t>/etc/hosts</a:t>
                      </a:r>
                    </a:p>
                  </a:txBody>
                  <a:tcPr anchor="ctr">
                    <a:solidFill>
                      <a:srgbClr val="FFFFFF"/>
                    </a:solidFill>
                  </a:tcPr>
                </a:tc>
              </a:tr>
              <a:tr h="640000">
                <a:tc>
                  <a:txBody>
                    <a:bodyPr/>
                    <a:lstStyle/>
                    <a:p>
                      <a:pPr algn="ctr">
                        <a:defRPr sz="1300" b="1">
                          <a:solidFill>
                            <a:srgbClr val="1F242E"/>
                          </a:solidFill>
                          <a:latin typeface="Segoe UI" panose="020B0502040204020203"/>
                        </a:defRPr>
                      </a:pPr>
                      <a:r>
                        <a:t>Cú pháp</a:t>
                      </a:r>
                    </a:p>
                  </a:txBody>
                  <a:tcPr anchor="ctr">
                    <a:solidFill>
                      <a:srgbClr val="F1F5F9"/>
                    </a:solidFill>
                  </a:tcPr>
                </a:tc>
                <a:tc>
                  <a:txBody>
                    <a:bodyPr/>
                    <a:lstStyle/>
                    <a:p>
                      <a:pPr algn="ctr">
                        <a:defRPr sz="1300">
                          <a:solidFill>
                            <a:srgbClr val="1F242E"/>
                          </a:solidFill>
                          <a:latin typeface="Segoe UI" panose="020B0502040204020203"/>
                        </a:defRPr>
                      </a:pPr>
                      <a:r>
                        <a:t>127.0.0.1  luma-store.local</a:t>
                      </a:r>
                    </a:p>
                  </a:txBody>
                  <a:tcPr anchor="ctr">
                    <a:solidFill>
                      <a:srgbClr val="FFFFFF"/>
                    </a:solidFill>
                  </a:tcPr>
                </a:tc>
                <a:tc>
                  <a:txBody>
                    <a:bodyPr/>
                    <a:lstStyle/>
                    <a:p>
                      <a:pPr algn="ctr">
                        <a:defRPr sz="1300">
                          <a:solidFill>
                            <a:srgbClr val="1F242E"/>
                          </a:solidFill>
                          <a:latin typeface="Segoe UI" panose="020B0502040204020203"/>
                        </a:defRPr>
                      </a:pPr>
                      <a:r>
                        <a:t>127.0.0.1  luma-store.local</a:t>
                      </a:r>
                    </a:p>
                  </a:txBody>
                  <a:tcPr anchor="ctr">
                    <a:solidFill>
                      <a:srgbClr val="FFFFFF"/>
                    </a:solidFill>
                  </a:tcPr>
                </a:tc>
                <a:tc>
                  <a:txBody>
                    <a:bodyPr/>
                    <a:lstStyle/>
                    <a:p>
                      <a:pPr algn="ctr">
                        <a:defRPr sz="1300">
                          <a:solidFill>
                            <a:srgbClr val="1F242E"/>
                          </a:solidFill>
                          <a:latin typeface="Segoe UI" panose="020B0502040204020203"/>
                        </a:defRPr>
                      </a:pPr>
                      <a:r>
                        <a:t>127.0.0.1  luma-store.local</a:t>
                      </a:r>
                    </a:p>
                  </a:txBody>
                  <a:tcPr anchor="ctr">
                    <a:solidFill>
                      <a:srgbClr val="FFFFFF"/>
                    </a:solidFill>
                  </a:tcPr>
                </a:tc>
              </a:tr>
              <a:tr h="640000">
                <a:tc>
                  <a:txBody>
                    <a:bodyPr/>
                    <a:lstStyle/>
                    <a:p>
                      <a:pPr algn="ctr">
                        <a:defRPr sz="1300" b="1">
                          <a:solidFill>
                            <a:srgbClr val="1F242E"/>
                          </a:solidFill>
                          <a:latin typeface="Segoe UI" panose="020B0502040204020203"/>
                        </a:defRPr>
                      </a:pPr>
                      <a:r>
                        <a:t>Lưu ý quan trọng</a:t>
                      </a:r>
                    </a:p>
                  </a:txBody>
                  <a:tcPr anchor="ctr">
                    <a:solidFill>
                      <a:srgbClr val="F1F5F9"/>
                    </a:solidFill>
                  </a:tcPr>
                </a:tc>
                <a:tc>
                  <a:txBody>
                    <a:bodyPr/>
                    <a:lstStyle/>
                    <a:p>
                      <a:pPr algn="ctr">
                        <a:defRPr sz="1300">
                          <a:solidFill>
                            <a:srgbClr val="1F242E"/>
                          </a:solidFill>
                          <a:latin typeface="Segoe UI" panose="020B0502040204020203"/>
                        </a:defRPr>
                      </a:pPr>
                      <a:r>
                        <a:t>Cần quyền Admin</a:t>
                      </a:r>
                    </a:p>
                  </a:txBody>
                  <a:tcPr anchor="ctr">
                    <a:solidFill>
                      <a:srgbClr val="FFFFFF"/>
                    </a:solidFill>
                  </a:tcPr>
                </a:tc>
                <a:tc>
                  <a:txBody>
                    <a:bodyPr/>
                    <a:lstStyle/>
                    <a:p>
                      <a:pPr algn="ctr">
                        <a:defRPr sz="1300">
                          <a:solidFill>
                            <a:srgbClr val="1F242E"/>
                          </a:solidFill>
                          <a:latin typeface="Segoe UI" panose="020B0502040204020203"/>
                        </a:defRPr>
                      </a:pPr>
                      <a:r>
                        <a:t>Trình duyệt chạy trên</a:t>
                      </a:r>
                      <a:br/>
                      <a:r>
                        <a:t>OS mẹ → phải sửa</a:t>
                      </a:r>
                      <a:br/>
                      <a:r>
                        <a:t>file hosts OS mẹ</a:t>
                      </a:r>
                    </a:p>
                  </a:txBody>
                  <a:tcPr anchor="ctr">
                    <a:solidFill>
                      <a:srgbClr val="FFFFFF"/>
                    </a:solidFill>
                  </a:tcPr>
                </a:tc>
                <a:tc>
                  <a:txBody>
                    <a:bodyPr/>
                    <a:lstStyle/>
                    <a:p>
                      <a:pPr algn="ctr">
                        <a:defRPr sz="1300">
                          <a:solidFill>
                            <a:srgbClr val="1F242E"/>
                          </a:solidFill>
                          <a:latin typeface="Segoe UI" panose="020B0502040204020203"/>
                        </a:defRPr>
                      </a:pPr>
                      <a:r>
                        <a:t>Có hiệu lực ngay</a:t>
                      </a:r>
                      <a:br/>
                      <a:r>
                        <a:t>sau khi lưu file</a:t>
                      </a:r>
                    </a:p>
                  </a:txBody>
                  <a:tcPr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13/35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8. Bảo mật giao thức: SSL/TLS &amp; HTTPS</a:t>
            </a:r>
          </a:p>
        </p:txBody>
      </p:sp>
      <p:sp>
        <p:nvSpPr>
          <p:cNvPr id="9" name="TextBox 8"/>
          <p:cNvSpPr txBox="1"/>
          <p:nvPr/>
        </p:nvSpPr>
        <p:spPr>
          <a:xfrm>
            <a:off x="650000" y="1300000"/>
            <a:ext cx="10891365" cy="4700000"/>
          </a:xfrm>
          <a:prstGeom prst="rect">
            <a:avLst/>
          </a:prstGeom>
          <a:noFill/>
        </p:spPr>
        <p:txBody>
          <a:bodyPr wrap="square" lIns="0" tIns="0" rIns="0" bIns="0">
            <a:spAutoFit/>
          </a:bodyPr>
          <a:lstStyle/>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HTTP: Bản tin dạng rõ (Plaintext), nguy cơ nghe lén (Man-in-the-Middle).</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HTTPS: HTTP chạy trên kênh mã hóa TLS/SSL (Cổng mặc định: 443).</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Bảo đảm 3 yếu tố: Bảo mật (Confidentiality) - Toàn vẹn (Integrity) - Xác thực (Authentication).</a:t>
            </a:r>
            <a:endParaRPr sz="1800" b="0">
              <a:solidFill>
                <a:srgbClr val="1F242E"/>
              </a:solidFill>
              <a:latin typeface="Segoe UI" panose="020B050204020402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14/35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9. Chứng chỉ số &amp; Chuỗi tin cậy (Chain of Trust)</a:t>
            </a:r>
          </a:p>
        </p:txBody>
      </p:sp>
      <p:sp>
        <p:nvSpPr>
          <p:cNvPr id="9" name="TextBox 8"/>
          <p:cNvSpPr txBox="1"/>
          <p:nvPr/>
        </p:nvSpPr>
        <p:spPr>
          <a:xfrm>
            <a:off x="457200" y="1300000"/>
            <a:ext cx="51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CA (Certificate Authority): Tổ chức thứ ba uy tín cấp chứng chỉ số.</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Chain of Trust: Root CA -&gt; Intermediate CA -&gt; Server Certificate.</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Hệ điều hành lưu sẵn danh sách các Root CA đáng tin cậy toàn cầu.</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Self-signed SSL (Tự ký):</a:t>
            </a:r>
            <a:r>
              <a:rPr sz="1800" b="0">
                <a:solidFill>
                  <a:srgbClr val="1F242E"/>
                </a:solidFill>
                <a:latin typeface="Segoe UI" panose="020B0502040204020203"/>
              </a:rPr>
              <a:t> Bị trình duyệt cảnh báo đỏ vì gãy chuỗi Chain of Trust.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Production:</a:t>
            </a:r>
            <a:r>
              <a:rPr sz="1800" b="0">
                <a:solidFill>
                  <a:srgbClr val="1F242E"/>
                </a:solidFill>
                <a:latin typeface="Segoe UI" panose="020B0502040204020203"/>
              </a:rPr>
              <a:t> Sử dụng Let's Encrypt / Certbot để có chứng chỉ tin cậy tự động.</a:t>
            </a:r>
            <a:endParaRPr sz="1800" b="0">
              <a:solidFill>
                <a:srgbClr val="1F242E"/>
              </a:solidFill>
              <a:latin typeface="Segoe UI" panose="020B0502040204020203"/>
            </a:endParaRPr>
          </a:p>
        </p:txBody>
      </p:sp>
      <p:pic>
        <p:nvPicPr>
          <p:cNvPr id="10" name="Picture 9" descr="slide12_chain_of_trust.png"/>
          <p:cNvPicPr>
            <a:picLocks noChangeAspect="1"/>
          </p:cNvPicPr>
          <p:nvPr/>
        </p:nvPicPr>
        <p:blipFill>
          <a:blip r:embed="rId2"/>
          <a:stretch>
            <a:fillRect/>
          </a:stretch>
        </p:blipFill>
        <p:spPr>
          <a:xfrm>
            <a:off x="5907200" y="1843984"/>
            <a:ext cx="5800000" cy="34120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15/35</a:t>
            </a: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3: KIẾN TRÚC &amp; CẤU TRÚC FILE CẤU HÌNH NGINX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16/35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 Tại sao chọn NGINX? (Kiến trúc Event-Driven)</a:t>
            </a:r>
          </a:p>
        </p:txBody>
      </p:sp>
      <p:sp>
        <p:nvSpPr>
          <p:cNvPr id="9" name="TextBox 8"/>
          <p:cNvSpPr txBox="1"/>
          <p:nvPr/>
        </p:nvSpPr>
        <p:spPr>
          <a:xfrm>
            <a:off x="650000" y="1300000"/>
            <a:ext cx="10891365" cy="4700000"/>
          </a:xfrm>
          <a:prstGeom prst="rect">
            <a:avLst/>
          </a:prstGeom>
          <a:noFill/>
        </p:spPr>
        <p:txBody>
          <a:bodyPr wrap="square" lIns="0" tIns="0" rIns="0" bIns="0">
            <a:spAutoFit/>
          </a:bodyPr>
          <a:lstStyle/>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Apache truyền thống: Process/Thread per Connection (Tốn RAM, nghẽn khi đông truy cập).</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NGINX: Kiến trúc hướng sự kiện (Asynchronous &amp; Event-driven).</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Một Worker process xử lý hàng chục nghìn kết nối đồng thời (C10K problem).</a:t>
            </a:r>
            <a:endParaRPr sz="1800" b="0">
              <a:solidFill>
                <a:srgbClr val="1F242E"/>
              </a:solidFill>
              <a:latin typeface="Segoe UI" panose="020B0502040204020203"/>
            </a:endParaRPr>
          </a:p>
          <a:p>
            <a:pPr>
              <a:spcBef>
                <a:spcPts val="200"/>
              </a:spcBef>
              <a:spcAft>
                <a:spcPts val="1600"/>
              </a:spcAft>
            </a:pPr>
            <a:r>
              <a:rPr sz="1800" b="1">
                <a:solidFill>
                  <a:srgbClr val="880C10"/>
                </a:solidFill>
                <a:latin typeface="Segoe UI" panose="020B0502040204020203"/>
              </a:rPr>
              <a:t>•  </a:t>
            </a:r>
            <a:r>
              <a:rPr sz="1800" b="0">
                <a:solidFill>
                  <a:srgbClr val="1F242E"/>
                </a:solidFill>
                <a:latin typeface="Segoe UI" panose="020B0502040204020203"/>
              </a:rPr>
              <a:t>Tối ưu hóa bộ nhớ RAM và tiêu thụ CPU cực kỳ thấp.</a:t>
            </a:r>
            <a:endParaRPr sz="1800" b="0">
              <a:solidFill>
                <a:srgbClr val="1F242E"/>
              </a:solidFill>
              <a:latin typeface="Segoe UI" panose="020B05020402040202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17/35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2. Cấu trúc phân cấp của `nginx.conf`</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main context</a:t>
            </a:r>
            <a:r>
              <a:rPr sz="1800" b="0">
                <a:solidFill>
                  <a:srgbClr val="1F242E"/>
                </a:solidFill>
                <a:latin typeface="Segoe UI" panose="020B0502040204020203"/>
              </a:rPr>
              <a:t>: Cấu hình tiến trình hệ thống (</a:t>
            </a:r>
            <a:r>
              <a:rPr sz="1800" b="1">
                <a:solidFill>
                  <a:srgbClr val="1F242E"/>
                </a:solidFill>
                <a:latin typeface="Segoe UI" panose="020B0502040204020203"/>
              </a:rPr>
              <a:t>worker_processes</a:t>
            </a:r>
            <a:r>
              <a:rPr sz="1800" b="0">
                <a:solidFill>
                  <a:srgbClr val="1F242E"/>
                </a:solidFill>
                <a:latin typeface="Segoe UI" panose="020B0502040204020203"/>
              </a:rPr>
              <a:t>, </a:t>
            </a:r>
            <a:r>
              <a:rPr sz="1800" b="1">
                <a:solidFill>
                  <a:srgbClr val="1F242E"/>
                </a:solidFill>
                <a:latin typeface="Segoe UI" panose="020B0502040204020203"/>
              </a:rPr>
              <a:t>error_log</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events {}</a:t>
            </a:r>
            <a:r>
              <a:rPr sz="1800" b="0">
                <a:solidFill>
                  <a:srgbClr val="1F242E"/>
                </a:solidFill>
                <a:latin typeface="Segoe UI" panose="020B0502040204020203"/>
              </a:rPr>
              <a:t>: Cấu hình kết nối mạng (</a:t>
            </a:r>
            <a:r>
              <a:rPr sz="1800" b="1">
                <a:solidFill>
                  <a:srgbClr val="1F242E"/>
                </a:solidFill>
                <a:latin typeface="Segoe UI" panose="020B0502040204020203"/>
              </a:rPr>
              <a:t>worker_connections</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http {}</a:t>
            </a:r>
            <a:r>
              <a:rPr sz="1800" b="0">
                <a:solidFill>
                  <a:srgbClr val="1F242E"/>
                </a:solidFill>
                <a:latin typeface="Segoe UI" panose="020B0502040204020203"/>
              </a:rPr>
              <a:t>: Cấu hình xử lý giao thức web toàn cục (MIME types, Logging, Gzip).</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server {}</a:t>
            </a:r>
            <a:r>
              <a:rPr sz="1800" b="0">
                <a:solidFill>
                  <a:srgbClr val="1F242E"/>
                </a:solidFill>
                <a:latin typeface="Segoe UI" panose="020B0502040204020203"/>
              </a:rPr>
              <a:t>: Định nghĩa một Virtual Host (theo IP, Port, Domain).</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location {}</a:t>
            </a:r>
            <a:r>
              <a:rPr sz="1800" b="0">
                <a:solidFill>
                  <a:srgbClr val="1F242E"/>
                </a:solidFill>
                <a:latin typeface="Segoe UI" panose="020B0502040204020203"/>
              </a:rPr>
              <a:t>: Định tuyến theo đường dẫn URI cụ thể (</a:t>
            </a:r>
            <a:r>
              <a:rPr sz="1800" b="1">
                <a:solidFill>
                  <a:srgbClr val="1F242E"/>
                </a:solidFill>
                <a:latin typeface="Segoe UI" panose="020B0502040204020203"/>
              </a:rPr>
              <a:t>/</a:t>
            </a:r>
            <a:r>
              <a:rPr sz="1800" b="0">
                <a:solidFill>
                  <a:srgbClr val="1F242E"/>
                </a:solidFill>
                <a:latin typeface="Segoe UI" panose="020B0502040204020203"/>
              </a:rPr>
              <a:t>, </a:t>
            </a:r>
            <a:r>
              <a:rPr sz="1800" b="1">
                <a:solidFill>
                  <a:srgbClr val="1F242E"/>
                </a:solidFill>
                <a:latin typeface="Segoe UI" panose="020B0502040204020203"/>
              </a:rPr>
              <a:t>/api/</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upstream {}</a:t>
            </a:r>
            <a:r>
              <a:rPr sz="1800" b="0">
                <a:solidFill>
                  <a:srgbClr val="1F242E"/>
                </a:solidFill>
                <a:latin typeface="Segoe UI" panose="020B0502040204020203"/>
              </a:rPr>
              <a:t>: Gom nhóm các máy chủ backend để cân bằng tải.</a:t>
            </a:r>
            <a:endParaRPr sz="1800" b="0">
              <a:solidFill>
                <a:srgbClr val="1F242E"/>
              </a:solidFill>
              <a:latin typeface="Segoe UI" panose="020B0502040204020203"/>
            </a:endParaRPr>
          </a:p>
        </p:txBody>
      </p:sp>
      <p:pic>
        <p:nvPicPr>
          <p:cNvPr id="11" name="Hình ảnh 10"/>
          <p:cNvPicPr>
            <a:picLocks noChangeAspect="1"/>
          </p:cNvPicPr>
          <p:nvPr/>
        </p:nvPicPr>
        <p:blipFill>
          <a:blip r:embed="rId2"/>
          <a:stretch>
            <a:fillRect/>
          </a:stretch>
        </p:blipFill>
        <p:spPr>
          <a:xfrm>
            <a:off x="5927090" y="1101090"/>
            <a:ext cx="5045710" cy="50946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18/35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3. Các Directive then chốt trong NGINX</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listen</a:t>
            </a:r>
            <a:r>
              <a:rPr sz="1800" b="0">
                <a:solidFill>
                  <a:srgbClr val="1F242E"/>
                </a:solidFill>
                <a:latin typeface="Segoe UI" panose="020B0502040204020203"/>
              </a:rPr>
              <a:t>: Khai báo cổng lắng nghe (</a:t>
            </a:r>
            <a:r>
              <a:rPr sz="1800" b="1">
                <a:solidFill>
                  <a:srgbClr val="1F242E"/>
                </a:solidFill>
                <a:latin typeface="Segoe UI" panose="020B0502040204020203"/>
              </a:rPr>
              <a:t>80</a:t>
            </a:r>
            <a:r>
              <a:rPr sz="1800" b="0">
                <a:solidFill>
                  <a:srgbClr val="1F242E"/>
                </a:solidFill>
                <a:latin typeface="Segoe UI" panose="020B0502040204020203"/>
              </a:rPr>
              <a:t>, </a:t>
            </a:r>
            <a:r>
              <a:rPr sz="1800" b="1">
                <a:solidFill>
                  <a:srgbClr val="1F242E"/>
                </a:solidFill>
                <a:latin typeface="Segoe UI" panose="020B0502040204020203"/>
              </a:rPr>
              <a:t>443 ssl</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server_name</a:t>
            </a:r>
            <a:r>
              <a:rPr sz="1800" b="0">
                <a:solidFill>
                  <a:srgbClr val="1F242E"/>
                </a:solidFill>
                <a:latin typeface="Segoe UI" panose="020B0502040204020203"/>
              </a:rPr>
              <a:t>: Tên miền tiếp nhận (</a:t>
            </a:r>
            <a:r>
              <a:rPr sz="1800" b="1">
                <a:solidFill>
                  <a:srgbClr val="1F242E"/>
                </a:solidFill>
                <a:latin typeface="Segoe UI" panose="020B0502040204020203"/>
              </a:rPr>
              <a:t>localhost</a:t>
            </a:r>
            <a:r>
              <a:rPr sz="1800" b="0">
                <a:solidFill>
                  <a:srgbClr val="1F242E"/>
                </a:solidFill>
                <a:latin typeface="Segoe UI" panose="020B0502040204020203"/>
              </a:rPr>
              <a:t>, </a:t>
            </a:r>
            <a:r>
              <a:rPr sz="1800" b="1">
                <a:solidFill>
                  <a:srgbClr val="1F242E"/>
                </a:solidFill>
                <a:latin typeface="Segoe UI" panose="020B0502040204020203"/>
              </a:rPr>
              <a:t>luma-store.local</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root</a:t>
            </a:r>
            <a:r>
              <a:rPr sz="1800" b="0">
                <a:solidFill>
                  <a:srgbClr val="1F242E"/>
                </a:solidFill>
                <a:latin typeface="Segoe UI" panose="020B0502040204020203"/>
              </a:rPr>
              <a:t> vs </a:t>
            </a:r>
            <a:r>
              <a:rPr sz="1800" b="1">
                <a:solidFill>
                  <a:srgbClr val="1F242E"/>
                </a:solidFill>
                <a:latin typeface="Segoe UI" panose="020B0502040204020203"/>
              </a:rPr>
              <a:t>alias</a:t>
            </a:r>
            <a:r>
              <a:rPr sz="1800" b="0">
                <a:solidFill>
                  <a:srgbClr val="1F242E"/>
                </a:solidFill>
                <a:latin typeface="Segoe UI" panose="020B0502040204020203"/>
              </a:rPr>
              <a:t>: Thư mục gốc chứa tài nguyên tĩnh.</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proxy_pass</a:t>
            </a:r>
            <a:r>
              <a:rPr sz="1800" b="0">
                <a:solidFill>
                  <a:srgbClr val="1F242E"/>
                </a:solidFill>
                <a:latin typeface="Segoe UI" panose="020B0502040204020203"/>
              </a:rPr>
              <a:t>: Chuyển tiếp request đến server đích.</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proxy_set_header</a:t>
            </a:r>
            <a:r>
              <a:rPr sz="1800" b="0">
                <a:solidFill>
                  <a:srgbClr val="1F242E"/>
                </a:solidFill>
                <a:latin typeface="Segoe UI" panose="020B0502040204020203"/>
              </a:rPr>
              <a:t>: Bảo toàn thông tin định danh của Client khi chuyển tiếp.</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6090285" y="1140460"/>
            <a:ext cx="5323205" cy="4419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19/35</a:t>
            </a: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4: DEMO THỰC CHIẾN TRÊN DỰ ÁN LUMA STORE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20/35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 Demo 1 - NGINX làm Web Server phục vụ Frontend</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Mục tiêu: Phục vụ ứng dụng Frontend Luma Store tốc độ cao.</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Thao tác: Build mã nguồn React/Vue ra thư mục tĩnh (</a:t>
            </a:r>
            <a:r>
              <a:rPr sz="1800" b="1">
                <a:solidFill>
                  <a:srgbClr val="1F242E"/>
                </a:solidFill>
                <a:latin typeface="Segoe UI" panose="020B0502040204020203"/>
              </a:rPr>
              <a:t>dist</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Cấu hình: Trỏ </a:t>
            </a:r>
            <a:r>
              <a:rPr sz="1800" b="1">
                <a:solidFill>
                  <a:srgbClr val="1F242E"/>
                </a:solidFill>
                <a:latin typeface="Segoe UI" panose="020B0502040204020203"/>
              </a:rPr>
              <a:t>root</a:t>
            </a:r>
            <a:r>
              <a:rPr sz="1800" b="0">
                <a:solidFill>
                  <a:srgbClr val="1F242E"/>
                </a:solidFill>
                <a:latin typeface="Segoe UI" panose="020B0502040204020203"/>
              </a:rPr>
              <a:t> về thư mục chứa mã nguồn tĩnh, gán </a:t>
            </a:r>
            <a:r>
              <a:rPr sz="1800" b="1">
                <a:solidFill>
                  <a:srgbClr val="1F242E"/>
                </a:solidFill>
                <a:latin typeface="Segoe UI" panose="020B0502040204020203"/>
              </a:rPr>
              <a:t>index index.html</a:t>
            </a:r>
            <a:r>
              <a:rPr sz="1800" b="0">
                <a:solidFill>
                  <a:srgbClr val="1F242E"/>
                </a:solidFill>
                <a:latin typeface="Segoe UI" panose="020B0502040204020203"/>
              </a:rPr>
              <a:t>.</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5585460" y="1299845"/>
            <a:ext cx="5715000" cy="37776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21/35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2. Demo 1 - Kết quả thực nghiệm Web Server</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chemeClr val="tx1"/>
                </a:solidFill>
                <a:latin typeface="Segoe UI" panose="020B0502040204020203"/>
              </a:rPr>
              <a:t>•  </a:t>
            </a:r>
            <a:r>
              <a:rPr sz="1800" b="0">
                <a:solidFill>
                  <a:schemeClr val="tx1"/>
                </a:solidFill>
                <a:latin typeface="Segoe UI" panose="020B0502040204020203"/>
              </a:rPr>
              <a:t>Truy cập: </a:t>
            </a:r>
            <a:r>
              <a:rPr sz="1800" b="1">
                <a:solidFill>
                  <a:schemeClr val="tx1"/>
                </a:solidFill>
                <a:latin typeface="Segoe UI" panose="020B0502040204020203"/>
              </a:rPr>
              <a:t>http://localhost:80</a:t>
            </a:r>
            <a:r>
              <a:rPr sz="1800" b="0">
                <a:solidFill>
                  <a:schemeClr val="tx1"/>
                </a:solidFill>
                <a:latin typeface="Segoe UI" panose="020B0502040204020203"/>
              </a:rPr>
              <a:t>.</a:t>
            </a:r>
            <a:endParaRPr sz="1800" b="0">
              <a:solidFill>
                <a:schemeClr val="tx1"/>
              </a:solidFill>
              <a:latin typeface="Segoe UI" panose="020B0502040204020203"/>
            </a:endParaRPr>
          </a:p>
          <a:p>
            <a:pPr>
              <a:spcBef>
                <a:spcPts val="200"/>
              </a:spcBef>
              <a:spcAft>
                <a:spcPts val="1400"/>
              </a:spcAft>
            </a:pPr>
            <a:r>
              <a:rPr sz="1800" b="1">
                <a:solidFill>
                  <a:schemeClr val="tx1"/>
                </a:solidFill>
                <a:latin typeface="Segoe UI" panose="020B0502040204020203"/>
              </a:rPr>
              <a:t>•  </a:t>
            </a:r>
            <a:r>
              <a:rPr sz="1800" b="0">
                <a:solidFill>
                  <a:schemeClr val="tx1"/>
                </a:solidFill>
                <a:latin typeface="Segoe UI" panose="020B0502040204020203"/>
              </a:rPr>
              <a:t>Kết quả: Giao diện Luma Store hiển thị tức thì.</a:t>
            </a:r>
            <a:endParaRPr sz="1800" b="0">
              <a:solidFill>
                <a:schemeClr val="tx1"/>
              </a:solidFill>
              <a:latin typeface="Segoe UI" panose="020B0502040204020203"/>
            </a:endParaRPr>
          </a:p>
          <a:p>
            <a:pPr>
              <a:spcBef>
                <a:spcPts val="200"/>
              </a:spcBef>
              <a:spcAft>
                <a:spcPts val="1400"/>
              </a:spcAft>
            </a:pPr>
            <a:r>
              <a:rPr sz="1800" b="1">
                <a:solidFill>
                  <a:schemeClr val="tx1"/>
                </a:solidFill>
                <a:latin typeface="Segoe UI" panose="020B0502040204020203"/>
              </a:rPr>
              <a:t>•  </a:t>
            </a:r>
            <a:r>
              <a:rPr sz="1800" b="0">
                <a:solidFill>
                  <a:schemeClr val="tx1"/>
                </a:solidFill>
                <a:latin typeface="Segoe UI" panose="020B0502040204020203"/>
              </a:rPr>
              <a:t>Phân tích Network tab: Trình duyệt tải trực tiếp các file tĩnh với HTTP 200/304.</a:t>
            </a:r>
            <a:endParaRPr sz="1800" b="0">
              <a:solidFill>
                <a:schemeClr val="tx1"/>
              </a:solidFill>
              <a:latin typeface="Segoe UI" panose="020B0502040204020203"/>
            </a:endParaRPr>
          </a:p>
          <a:p>
            <a:pPr>
              <a:spcBef>
                <a:spcPts val="200"/>
              </a:spcBef>
              <a:spcAft>
                <a:spcPts val="1400"/>
              </a:spcAft>
            </a:pPr>
            <a:r>
              <a:rPr sz="1800" b="1">
                <a:solidFill>
                  <a:schemeClr val="tx1"/>
                </a:solidFill>
                <a:latin typeface="Segoe UI" panose="020B0502040204020203"/>
              </a:rPr>
              <a:t>•  </a:t>
            </a:r>
            <a:r>
              <a:rPr sz="1800" b="0">
                <a:solidFill>
                  <a:schemeClr val="tx1"/>
                </a:solidFill>
                <a:latin typeface="Segoe UI" panose="020B0502040204020203"/>
              </a:rPr>
              <a:t>Server Header: </a:t>
            </a:r>
            <a:r>
              <a:rPr sz="1800" b="1">
                <a:solidFill>
                  <a:schemeClr val="tx1"/>
                </a:solidFill>
                <a:latin typeface="Segoe UI" panose="020B0502040204020203"/>
              </a:rPr>
              <a:t>Server: nginx</a:t>
            </a:r>
            <a:r>
              <a:rPr sz="1800" b="0">
                <a:solidFill>
                  <a:schemeClr val="tx1"/>
                </a:solidFill>
                <a:latin typeface="Segoe UI" panose="020B0502040204020203"/>
              </a:rPr>
              <a:t>.</a:t>
            </a:r>
            <a:endParaRPr sz="1800" b="0">
              <a:solidFill>
                <a:schemeClr val="tx1"/>
              </a:solidFill>
              <a:latin typeface="Segoe UI" panose="020B0502040204020203"/>
            </a:endParaRPr>
          </a:p>
        </p:txBody>
      </p:sp>
      <p:pic>
        <p:nvPicPr>
          <p:cNvPr id="12" name="Hình ảnh 11"/>
          <p:cNvPicPr>
            <a:picLocks noChangeAspect="1"/>
          </p:cNvPicPr>
          <p:nvPr/>
        </p:nvPicPr>
        <p:blipFill>
          <a:blip r:embed="rId2"/>
          <a:stretch>
            <a:fillRect/>
          </a:stretch>
        </p:blipFill>
        <p:spPr>
          <a:xfrm>
            <a:off x="5749925" y="1299845"/>
            <a:ext cx="4664710" cy="3989705"/>
          </a:xfrm>
          <a:prstGeom prst="rect">
            <a:avLst/>
          </a:prstGeom>
        </p:spPr>
      </p:pic>
      <p:pic>
        <p:nvPicPr>
          <p:cNvPr id="14" name="Hình ảnh 13"/>
          <p:cNvPicPr/>
          <p:nvPr/>
        </p:nvPicPr>
        <p:blipFill>
          <a:blip r:embed="rId3"/>
          <a:stretch>
            <a:fillRect/>
          </a:stretch>
        </p:blipFill>
        <p:spPr>
          <a:xfrm rot="10800000">
            <a:off x="8921115" y="2247265"/>
            <a:ext cx="517525" cy="267970"/>
          </a:xfrm>
          <a:prstGeom prst="rect">
            <a:avLst/>
          </a:prstGeom>
        </p:spPr>
      </p:pic>
      <p:pic>
        <p:nvPicPr>
          <p:cNvPr id="15" name="Hình ảnh 14"/>
          <p:cNvPicPr/>
          <p:nvPr/>
        </p:nvPicPr>
        <p:blipFill>
          <a:blip r:embed="rId3"/>
          <a:stretch>
            <a:fillRect/>
          </a:stretch>
        </p:blipFill>
        <p:spPr>
          <a:xfrm rot="10800000">
            <a:off x="9173210" y="5021580"/>
            <a:ext cx="517525" cy="2679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22/35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3. Demo 2 - Vấn đề CORS kinh điển khi tách FE và BE</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Mô hình ban đầu: Frontend ở port </a:t>
            </a:r>
            <a:r>
              <a:rPr sz="1800" b="1">
                <a:solidFill>
                  <a:srgbClr val="1F242E"/>
                </a:solidFill>
                <a:latin typeface="Segoe UI" panose="020B0502040204020203"/>
              </a:rPr>
              <a:t>80</a:t>
            </a:r>
            <a:r>
              <a:rPr sz="1800" b="0">
                <a:solidFill>
                  <a:srgbClr val="1F242E"/>
                </a:solidFill>
                <a:latin typeface="Segoe UI" panose="020B0502040204020203"/>
              </a:rPr>
              <a:t>, Backend API ở port </a:t>
            </a:r>
            <a:r>
              <a:rPr sz="1800" b="1">
                <a:solidFill>
                  <a:srgbClr val="1F242E"/>
                </a:solidFill>
                <a:latin typeface="Segoe UI" panose="020B0502040204020203"/>
              </a:rPr>
              <a:t>3000</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Cơ chế Same-Origin Policy (SOP) của trình duyệt kích hoạt.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Trình duyệt chặn đứng yêu cầu vì khác Port (Origin: </a:t>
            </a:r>
            <a:r>
              <a:rPr sz="1800" b="1">
                <a:solidFill>
                  <a:srgbClr val="1F242E"/>
                </a:solidFill>
                <a:latin typeface="Segoe UI" panose="020B0502040204020203"/>
              </a:rPr>
              <a:t>localhost:80</a:t>
            </a:r>
            <a:r>
              <a:rPr sz="1800" b="0">
                <a:solidFill>
                  <a:srgbClr val="1F242E"/>
                </a:solidFill>
                <a:latin typeface="Segoe UI" panose="020B0502040204020203"/>
              </a:rPr>
              <a:t> != </a:t>
            </a:r>
            <a:r>
              <a:rPr sz="1800" b="1">
                <a:solidFill>
                  <a:srgbClr val="1F242E"/>
                </a:solidFill>
                <a:latin typeface="Segoe UI" panose="020B0502040204020203"/>
              </a:rPr>
              <a:t>localhost:3000</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Lỗi: </a:t>
            </a:r>
            <a:r>
              <a:rPr sz="1800" b="1">
                <a:solidFill>
                  <a:srgbClr val="1F242E"/>
                </a:solidFill>
                <a:latin typeface="Segoe UI" panose="020B0502040204020203"/>
              </a:rPr>
              <a:t>CORS policy: No 'Access-Control-Allow-Origin' header</a:t>
            </a:r>
            <a:r>
              <a:rPr sz="1800" b="0">
                <a:solidFill>
                  <a:srgbClr val="1F242E"/>
                </a:solidFill>
                <a:latin typeface="Segoe UI" panose="020B0502040204020203"/>
              </a:rPr>
              <a:t>.</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6010910" y="1518285"/>
            <a:ext cx="5829300" cy="16440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23/35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4. Demo 2 - Reverse Proxy triệt tiêu hoàn toàn CORS</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Giải pháp: Khách hàng chỉ truy cập duy nhất một cửa ngõ (</a:t>
            </a:r>
            <a:r>
              <a:rPr sz="1800" b="1">
                <a:solidFill>
                  <a:srgbClr val="1F242E"/>
                </a:solidFill>
                <a:latin typeface="Segoe UI" panose="020B0502040204020203"/>
              </a:rPr>
              <a:t>Port 80</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NGINX bẻ luồng: Đường dẫn </a:t>
            </a:r>
            <a:r>
              <a:rPr sz="1800" b="1">
                <a:solidFill>
                  <a:srgbClr val="1F242E"/>
                </a:solidFill>
                <a:latin typeface="Segoe UI" panose="020B0502040204020203"/>
              </a:rPr>
              <a:t>/api/</a:t>
            </a:r>
            <a:r>
              <a:rPr sz="1800" b="0">
                <a:solidFill>
                  <a:srgbClr val="1F242E"/>
                </a:solidFill>
                <a:latin typeface="Segoe UI" panose="020B0502040204020203"/>
              </a:rPr>
              <a:t> tự động đẩy về </a:t>
            </a:r>
            <a:r>
              <a:rPr sz="1800" b="1">
                <a:solidFill>
                  <a:srgbClr val="1F242E"/>
                </a:solidFill>
                <a:latin typeface="Segoe UI" panose="020B0502040204020203"/>
              </a:rPr>
              <a:t>http://localhost:3000</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Trình duyệt hiểu là cùng nguồn (Same-Origin) -&gt; </a:t>
            </a:r>
            <a:r>
              <a:rPr sz="1800" b="1">
                <a:solidFill>
                  <a:srgbClr val="1F242E"/>
                </a:solidFill>
                <a:latin typeface="Segoe UI" panose="020B0502040204020203"/>
              </a:rPr>
              <a:t>Không bao giờ bị lỗi CORS!</a:t>
            </a:r>
            <a:endParaRPr sz="1800" b="1">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5883275" y="1442085"/>
            <a:ext cx="5638800" cy="996315"/>
          </a:xfrm>
          <a:prstGeom prst="rect">
            <a:avLst/>
          </a:prstGeom>
        </p:spPr>
      </p:pic>
      <p:pic>
        <p:nvPicPr>
          <p:cNvPr id="11" name="Hình ảnh 10"/>
          <p:cNvPicPr>
            <a:picLocks noChangeAspect="1"/>
          </p:cNvPicPr>
          <p:nvPr/>
        </p:nvPicPr>
        <p:blipFill>
          <a:blip r:embed="rId3"/>
          <a:stretch>
            <a:fillRect/>
          </a:stretch>
        </p:blipFill>
        <p:spPr>
          <a:xfrm>
            <a:off x="5883275" y="2828925"/>
            <a:ext cx="5638800" cy="10344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24/35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5. Demo 2 - Bảo toàn danh tính Client (`proxy_set_header`)</a:t>
            </a:r>
          </a:p>
        </p:txBody>
      </p:sp>
      <p:sp>
        <p:nvSpPr>
          <p:cNvPr id="9" name="TextBox 8"/>
          <p:cNvSpPr txBox="1"/>
          <p:nvPr/>
        </p:nvSpPr>
        <p:spPr>
          <a:xfrm>
            <a:off x="457200" y="116665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Vấn đề: Đi qua Proxy, Backend chỉ nhìn thấy IP của NGINX (</a:t>
            </a:r>
            <a:r>
              <a:rPr sz="1800" b="1">
                <a:solidFill>
                  <a:srgbClr val="1F242E"/>
                </a:solidFill>
                <a:latin typeface="Segoe UI" panose="020B0502040204020203"/>
              </a:rPr>
              <a:t>127.0.0.1</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Hậu quả: Sai lệch dữ liệu phân tích, mất khả năng chặn IP spam/DDoS.</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Giải pháp: NGINX đóng gói IP gốc của khách vào Header chuyển tiếp.</a:t>
            </a:r>
            <a:endParaRPr sz="1800" b="0">
              <a:solidFill>
                <a:srgbClr val="1F242E"/>
              </a:solidFill>
              <a:latin typeface="Segoe UI" panose="020B0502040204020203"/>
            </a:endParaRPr>
          </a:p>
        </p:txBody>
      </p:sp>
      <p:pic>
        <p:nvPicPr>
          <p:cNvPr id="12" name="Hình ảnh 11"/>
          <p:cNvPicPr>
            <a:picLocks noChangeAspect="1"/>
          </p:cNvPicPr>
          <p:nvPr/>
        </p:nvPicPr>
        <p:blipFill>
          <a:blip r:embed="rId2"/>
          <a:stretch>
            <a:fillRect/>
          </a:stretch>
        </p:blipFill>
        <p:spPr>
          <a:xfrm>
            <a:off x="6976110" y="1235075"/>
            <a:ext cx="3739515" cy="4387215"/>
          </a:xfrm>
          <a:prstGeom prst="rect">
            <a:avLst/>
          </a:prstGeom>
        </p:spPr>
      </p:pic>
      <p:pic>
        <p:nvPicPr>
          <p:cNvPr id="13" name="Hình ảnh 12"/>
          <p:cNvPicPr>
            <a:picLocks noChangeAspect="1"/>
          </p:cNvPicPr>
          <p:nvPr/>
        </p:nvPicPr>
        <p:blipFill>
          <a:blip r:embed="rId3"/>
          <a:stretch>
            <a:fillRect/>
          </a:stretch>
        </p:blipFill>
        <p:spPr>
          <a:xfrm>
            <a:off x="505460" y="3245485"/>
            <a:ext cx="4572000" cy="2730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25/35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6. Demo 3 - Bài toán Chịu tải &amp; Khái niệm Upstream</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Vấn đề: Một instance Backend duy nhất gặp sự cố hoặc quá tải -&gt; Toàn bộ web sập (Single Point of Failure).</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Giải pháp: Chạy cụm nhiều Backend (Node 1 ở </a:t>
            </a:r>
            <a:r>
              <a:rPr sz="1800" b="1">
                <a:solidFill>
                  <a:srgbClr val="1F242E"/>
                </a:solidFill>
                <a:latin typeface="Segoe UI" panose="020B0502040204020203"/>
              </a:rPr>
              <a:t>port 3001</a:t>
            </a:r>
            <a:r>
              <a:rPr sz="1800" b="0">
                <a:solidFill>
                  <a:srgbClr val="1F242E"/>
                </a:solidFill>
                <a:latin typeface="Segoe UI" panose="020B0502040204020203"/>
              </a:rPr>
              <a:t>, Node 2 ở </a:t>
            </a:r>
            <a:r>
              <a:rPr sz="1800" b="1">
                <a:solidFill>
                  <a:srgbClr val="1F242E"/>
                </a:solidFill>
                <a:latin typeface="Segoe UI" panose="020B0502040204020203"/>
              </a:rPr>
              <a:t>port 3002</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1">
                <a:solidFill>
                  <a:srgbClr val="1F242E"/>
                </a:solidFill>
                <a:latin typeface="Segoe UI" panose="020B0502040204020203"/>
              </a:rPr>
              <a:t>upstream</a:t>
            </a:r>
            <a:r>
              <a:rPr sz="1800" b="0">
                <a:solidFill>
                  <a:srgbClr val="1F242E"/>
                </a:solidFill>
                <a:latin typeface="Segoe UI" panose="020B0502040204020203"/>
              </a:rPr>
              <a:t>: Khối định nghĩa nhóm server backend để NGINX điều phối tải.</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1632585" y="4011295"/>
            <a:ext cx="8523605" cy="80581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26/35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7. Demo 3 - Cấu hình Upstream &amp; Thuật toán Cân bằng tải</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Thuật toán mặc định: </a:t>
            </a:r>
            <a:r>
              <a:rPr sz="1800" b="1">
                <a:solidFill>
                  <a:srgbClr val="1F242E"/>
                </a:solidFill>
                <a:latin typeface="Segoe UI" panose="020B0502040204020203"/>
              </a:rPr>
              <a:t>Round Robin</a:t>
            </a:r>
            <a:r>
              <a:rPr sz="1800" b="0">
                <a:solidFill>
                  <a:srgbClr val="1F242E"/>
                </a:solidFill>
                <a:latin typeface="Segoe UI" panose="020B0502040204020203"/>
              </a:rPr>
              <a:t> (Phân phối tuần tự xoay vòng).</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Các thuật toán mở rộng: </a:t>
            </a:r>
            <a:r>
              <a:rPr sz="1800" b="1">
                <a:solidFill>
                  <a:srgbClr val="1F242E"/>
                </a:solidFill>
                <a:latin typeface="Segoe UI" panose="020B0502040204020203"/>
              </a:rPr>
              <a:t>least_conn</a:t>
            </a:r>
            <a:r>
              <a:rPr sz="1800" b="0">
                <a:solidFill>
                  <a:srgbClr val="1F242E"/>
                </a:solidFill>
                <a:latin typeface="Segoe UI" panose="020B0502040204020203"/>
              </a:rPr>
              <a:t>, </a:t>
            </a:r>
            <a:r>
              <a:rPr sz="1800" b="1">
                <a:solidFill>
                  <a:srgbClr val="1F242E"/>
                </a:solidFill>
                <a:latin typeface="Segoe UI" panose="020B0502040204020203"/>
              </a:rPr>
              <a:t>ip_hash</a:t>
            </a:r>
            <a:r>
              <a:rPr sz="1800" b="0">
                <a:solidFill>
                  <a:srgbClr val="1F242E"/>
                </a:solidFill>
                <a:latin typeface="Segoe UI" panose="020B0502040204020203"/>
              </a:rPr>
              <a:t>, </a:t>
            </a:r>
            <a:r>
              <a:rPr sz="1800" b="1">
                <a:solidFill>
                  <a:srgbClr val="1F242E"/>
                </a:solidFill>
                <a:latin typeface="Segoe UI" panose="020B0502040204020203"/>
              </a:rPr>
              <a:t>weight</a:t>
            </a:r>
            <a:r>
              <a:rPr sz="1800" b="0">
                <a:solidFill>
                  <a:srgbClr val="1F242E"/>
                </a:solidFill>
                <a:latin typeface="Segoe UI" panose="020B0502040204020203"/>
              </a:rPr>
              <a:t>.</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5657215" y="1257300"/>
            <a:ext cx="5111115" cy="394081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27/35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8. Demo 3 - Bằng chứng Phân phối tải thực tế</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Thực nghiệm: Gọi liên tục endpoint </a:t>
            </a:r>
            <a:r>
              <a:rPr sz="1800" b="1">
                <a:solidFill>
                  <a:srgbClr val="1F242E"/>
                </a:solidFill>
                <a:latin typeface="Segoe UI" panose="020B0502040204020203"/>
              </a:rPr>
              <a:t>/api/products</a:t>
            </a:r>
            <a:r>
              <a:rPr sz="1800" b="0">
                <a:solidFill>
                  <a:srgbClr val="1F242E"/>
                </a:solidFill>
                <a:latin typeface="Segoe UI" panose="020B0502040204020203"/>
              </a:rPr>
              <a:t> qua trình duyệt / script.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Backend trả về mã nhận diện Server ID (</a:t>
            </a:r>
            <a:r>
              <a:rPr sz="1800" b="1">
                <a:solidFill>
                  <a:srgbClr val="1F242E"/>
                </a:solidFill>
                <a:latin typeface="Segoe UI" panose="020B0502040204020203"/>
              </a:rPr>
              <a:t>Server-Node-01</a:t>
            </a:r>
            <a:r>
              <a:rPr sz="1800" b="0">
                <a:solidFill>
                  <a:srgbClr val="1F242E"/>
                </a:solidFill>
                <a:latin typeface="Segoe UI" panose="020B0502040204020203"/>
              </a:rPr>
              <a:t> vs </a:t>
            </a:r>
            <a:r>
              <a:rPr sz="1800" b="1">
                <a:solidFill>
                  <a:srgbClr val="1F242E"/>
                </a:solidFill>
                <a:latin typeface="Segoe UI" panose="020B0502040204020203"/>
              </a:rPr>
              <a:t>Server-Node-02</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Log kiểm chứng: Hai console backend in log luân phiên nhịp nhàng 1-1.</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5805170" y="1070610"/>
            <a:ext cx="4672965" cy="50812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28/35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9. Demo 4 - Đóng gói Docker &amp; Docker Network DNS</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Vấn đề: Trong môi trường Docker Container, </a:t>
            </a:r>
            <a:r>
              <a:rPr sz="1800" b="1">
                <a:solidFill>
                  <a:srgbClr val="1F242E"/>
                </a:solidFill>
                <a:latin typeface="Segoe UI" panose="020B0502040204020203"/>
              </a:rPr>
              <a:t>localhost</a:t>
            </a:r>
            <a:r>
              <a:rPr sz="1800" b="0">
                <a:solidFill>
                  <a:srgbClr val="1F242E"/>
                </a:solidFill>
                <a:latin typeface="Segoe UI" panose="020B0502040204020203"/>
              </a:rPr>
              <a:t> trỏ về chính container đó, không phải máy host!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Giải pháp: Gom các container vào chung một </a:t>
            </a:r>
            <a:r>
              <a:rPr sz="1800" b="1">
                <a:solidFill>
                  <a:srgbClr val="1F242E"/>
                </a:solidFill>
                <a:latin typeface="Segoe UI" panose="020B0502040204020203"/>
              </a:rPr>
              <a:t>Docker Bridge Network</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Docker DNS: Phân giải trực tiếp bằng </a:t>
            </a:r>
            <a:r>
              <a:rPr sz="1800" b="1">
                <a:solidFill>
                  <a:srgbClr val="1F242E"/>
                </a:solidFill>
                <a:latin typeface="Segoe UI" panose="020B0502040204020203"/>
              </a:rPr>
              <a:t>Tên Service</a:t>
            </a:r>
            <a:r>
              <a:rPr sz="1800" b="0">
                <a:solidFill>
                  <a:srgbClr val="1F242E"/>
                </a:solidFill>
                <a:latin typeface="Segoe UI" panose="020B0502040204020203"/>
              </a:rPr>
              <a:t> trong </a:t>
            </a:r>
            <a:r>
              <a:rPr sz="1800" b="1">
                <a:solidFill>
                  <a:srgbClr val="1F242E"/>
                </a:solidFill>
                <a:latin typeface="Segoe UI" panose="020B0502040204020203"/>
              </a:rPr>
              <a:t>docker-compose.yml</a:t>
            </a:r>
            <a:r>
              <a:rPr sz="1800" b="0">
                <a:solidFill>
                  <a:srgbClr val="1F242E"/>
                </a:solidFill>
                <a:latin typeface="Segoe UI" panose="020B0502040204020203"/>
              </a:rPr>
              <a:t>.</a:t>
            </a:r>
            <a:endParaRPr sz="1800" b="0">
              <a:solidFill>
                <a:srgbClr val="1F242E"/>
              </a:solidFill>
              <a:latin typeface="Segoe UI" panose="020B0502040204020203"/>
            </a:endParaRPr>
          </a:p>
        </p:txBody>
      </p:sp>
      <p:pic>
        <p:nvPicPr>
          <p:cNvPr id="11" name="Hình ảnh 10"/>
          <p:cNvPicPr>
            <a:picLocks noChangeAspect="1"/>
          </p:cNvPicPr>
          <p:nvPr/>
        </p:nvPicPr>
        <p:blipFill>
          <a:blip r:embed="rId2"/>
          <a:stretch>
            <a:fillRect/>
          </a:stretch>
        </p:blipFill>
        <p:spPr>
          <a:xfrm>
            <a:off x="5351780" y="1393190"/>
            <a:ext cx="6390005" cy="2035810"/>
          </a:xfrm>
          <a:prstGeom prst="rect">
            <a:avLst/>
          </a:prstGeom>
        </p:spPr>
      </p:pic>
      <p:pic>
        <p:nvPicPr>
          <p:cNvPr id="12" name="Hình ảnh 11"/>
          <p:cNvPicPr>
            <a:picLocks noChangeAspect="1"/>
          </p:cNvPicPr>
          <p:nvPr/>
        </p:nvPicPr>
        <p:blipFill>
          <a:blip r:embed="rId3"/>
          <a:stretch>
            <a:fillRect/>
          </a:stretch>
        </p:blipFill>
        <p:spPr>
          <a:xfrm>
            <a:off x="2287270" y="3663315"/>
            <a:ext cx="9454515" cy="22364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29/35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10. Demo 5 - Giới hạn Upload File (`client_max_body_size`)</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Mặc định của NGINX: Giới hạn kích thước gói tin gửi lên là </a:t>
            </a:r>
            <a:r>
              <a:rPr sz="1800" b="1">
                <a:solidFill>
                  <a:srgbClr val="1F242E"/>
                </a:solidFill>
                <a:latin typeface="Segoe UI" panose="020B0502040204020203"/>
              </a:rPr>
              <a:t>1MB</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Mục đích: Chống tấn công làm tràn bộ đệm (Buffer Overflow / DoS).</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Hiện tượng: Upload ảnh đại diện sản phẩm dung lượng 3MB -&gt; Nhận mã lỗi </a:t>
            </a:r>
            <a:r>
              <a:rPr sz="1800" b="1">
                <a:solidFill>
                  <a:srgbClr val="1F242E"/>
                </a:solidFill>
                <a:latin typeface="Segoe UI" panose="020B0502040204020203"/>
              </a:rPr>
              <a:t>413 Request Entity Too Large</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Khắc phục: Khai báo </a:t>
            </a:r>
            <a:r>
              <a:rPr sz="1800" b="1">
                <a:solidFill>
                  <a:srgbClr val="1F242E"/>
                </a:solidFill>
                <a:latin typeface="Segoe UI" panose="020B0502040204020203"/>
              </a:rPr>
              <a:t>client_max_body_size 50M;</a:t>
            </a:r>
            <a:r>
              <a:rPr sz="1800" b="0">
                <a:solidFill>
                  <a:srgbClr val="1F242E"/>
                </a:solidFill>
                <a:latin typeface="Segoe UI" panose="020B0502040204020203"/>
              </a:rPr>
              <a:t> trong khối </a:t>
            </a:r>
            <a:r>
              <a:rPr sz="1800" b="1">
                <a:solidFill>
                  <a:srgbClr val="1F242E"/>
                </a:solidFill>
                <a:latin typeface="Segoe UI" panose="020B0502040204020203"/>
              </a:rPr>
              <a:t>http</a:t>
            </a:r>
            <a:r>
              <a:rPr sz="1800" b="0">
                <a:solidFill>
                  <a:srgbClr val="1F242E"/>
                </a:solidFill>
                <a:latin typeface="Segoe UI" panose="020B0502040204020203"/>
              </a:rPr>
              <a:t> hoặc </a:t>
            </a:r>
            <a:r>
              <a:rPr sz="1800" b="1">
                <a:solidFill>
                  <a:srgbClr val="1F242E"/>
                </a:solidFill>
                <a:latin typeface="Segoe UI" panose="020B0502040204020203"/>
              </a:rPr>
              <a:t>server</a:t>
            </a:r>
            <a:r>
              <a:rPr sz="1800" b="0">
                <a:solidFill>
                  <a:srgbClr val="1F242E"/>
                </a:solidFill>
                <a:latin typeface="Segoe UI" panose="020B0502040204020203"/>
              </a:rPr>
              <a:t>.</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5801995" y="1158240"/>
            <a:ext cx="5944870" cy="37579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30/35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11. Demo 6 - Giả lập Domain thật với File Hosts</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Tên miền giả lập: </a:t>
            </a:r>
            <a:r>
              <a:rPr sz="1800" b="1">
                <a:solidFill>
                  <a:srgbClr val="1F242E"/>
                </a:solidFill>
                <a:latin typeface="Segoe UI" panose="020B0502040204020203"/>
              </a:rPr>
              <a:t>luma-store.local</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Thao tác: Mở file hosts với quyền Administrator, thêm dòng </a:t>
            </a:r>
            <a:r>
              <a:rPr sz="1800" b="1">
                <a:solidFill>
                  <a:srgbClr val="1F242E"/>
                </a:solidFill>
                <a:latin typeface="Segoe UI" panose="020B0502040204020203"/>
              </a:rPr>
              <a:t>127.0.0.1  luma-store.local</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Cấu hình NGINX: Đổi </a:t>
            </a:r>
            <a:r>
              <a:rPr sz="1800" b="1">
                <a:solidFill>
                  <a:srgbClr val="1F242E"/>
                </a:solidFill>
                <a:latin typeface="Segoe UI" panose="020B0502040204020203"/>
              </a:rPr>
              <a:t>server_name luma-store.local;</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Kết quả: Truy cập web bằng tên miền chuẩn nghiệp vụ thay vì IP khô khan.</a:t>
            </a:r>
            <a:endParaRPr sz="1800" b="0">
              <a:solidFill>
                <a:srgbClr val="1F242E"/>
              </a:solidFill>
              <a:latin typeface="Segoe UI" panose="020B0502040204020203"/>
            </a:endParaRPr>
          </a:p>
        </p:txBody>
      </p:sp>
      <p:pic>
        <p:nvPicPr>
          <p:cNvPr id="11" name="Hình ảnh 10"/>
          <p:cNvPicPr>
            <a:picLocks noChangeAspect="1"/>
          </p:cNvPicPr>
          <p:nvPr/>
        </p:nvPicPr>
        <p:blipFill>
          <a:blip r:embed="rId2"/>
          <a:stretch>
            <a:fillRect/>
          </a:stretch>
        </p:blipFill>
        <p:spPr>
          <a:xfrm>
            <a:off x="5800090" y="2627630"/>
            <a:ext cx="4740910" cy="1333500"/>
          </a:xfrm>
          <a:prstGeom prst="rect">
            <a:avLst/>
          </a:prstGeom>
        </p:spPr>
      </p:pic>
      <p:pic>
        <p:nvPicPr>
          <p:cNvPr id="12" name="Hình ảnh 11"/>
          <p:cNvPicPr>
            <a:picLocks noChangeAspect="1"/>
          </p:cNvPicPr>
          <p:nvPr/>
        </p:nvPicPr>
        <p:blipFill>
          <a:blip r:embed="rId3"/>
          <a:stretch>
            <a:fillRect/>
          </a:stretch>
        </p:blipFill>
        <p:spPr>
          <a:xfrm>
            <a:off x="5800090" y="1831340"/>
            <a:ext cx="2438400" cy="484505"/>
          </a:xfrm>
          <a:prstGeom prst="rect">
            <a:avLst/>
          </a:prstGeom>
        </p:spPr>
      </p:pic>
      <p:pic>
        <p:nvPicPr>
          <p:cNvPr id="13" name="Hình ảnh 12"/>
          <p:cNvPicPr>
            <a:picLocks noChangeAspect="1"/>
          </p:cNvPicPr>
          <p:nvPr/>
        </p:nvPicPr>
        <p:blipFill>
          <a:blip r:embed="rId4"/>
          <a:stretch>
            <a:fillRect/>
          </a:stretch>
        </p:blipFill>
        <p:spPr>
          <a:xfrm>
            <a:off x="5800090" y="1299845"/>
            <a:ext cx="3293110" cy="28321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31/35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12. Demo 6 - Mô phỏng HTTPS &amp; Giải mã Cảnh báo SSL</a:t>
            </a:r>
          </a:p>
        </p:txBody>
      </p:sp>
      <p:sp>
        <p:nvSpPr>
          <p:cNvPr id="9" name="TextBox 8"/>
          <p:cNvSpPr txBox="1"/>
          <p:nvPr/>
        </p:nvSpPr>
        <p:spPr>
          <a:xfrm>
            <a:off x="457200" y="1300000"/>
            <a:ext cx="5200000" cy="4600000"/>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Sinh chứng chỉ nội bộ: Sử dụng công cụ </a:t>
            </a:r>
            <a:r>
              <a:rPr sz="1800" b="1">
                <a:solidFill>
                  <a:srgbClr val="1F242E"/>
                </a:solidFill>
                <a:latin typeface="Segoe UI" panose="020B0502040204020203"/>
              </a:rPr>
              <a:t>OpenSSL</a:t>
            </a:r>
            <a:r>
              <a:rPr sz="1800" b="0">
                <a:solidFill>
                  <a:srgbClr val="1F242E"/>
                </a:solidFill>
                <a:latin typeface="Segoe UI" panose="020B0502040204020203"/>
              </a:rPr>
              <a:t> tạo cặp khóa riêng và chứng chỉ (</a:t>
            </a:r>
            <a:r>
              <a:rPr sz="1800" b="1">
                <a:solidFill>
                  <a:srgbClr val="1F242E"/>
                </a:solidFill>
                <a:latin typeface="Segoe UI" panose="020B0502040204020203"/>
              </a:rPr>
              <a:t>.key</a:t>
            </a:r>
            <a:r>
              <a:rPr sz="1800" b="0">
                <a:solidFill>
                  <a:srgbClr val="1F242E"/>
                </a:solidFill>
                <a:latin typeface="Segoe UI" panose="020B0502040204020203"/>
              </a:rPr>
              <a:t>, </a:t>
            </a:r>
            <a:r>
              <a:rPr sz="1800" b="1">
                <a:solidFill>
                  <a:srgbClr val="1F242E"/>
                </a:solidFill>
                <a:latin typeface="Segoe UI" panose="020B0502040204020203"/>
              </a:rPr>
              <a:t>.crt</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Bật SSL trên NGINX: </a:t>
            </a:r>
            <a:r>
              <a:rPr sz="1800" b="1">
                <a:solidFill>
                  <a:srgbClr val="1F242E"/>
                </a:solidFill>
                <a:latin typeface="Segoe UI" panose="020B0502040204020203"/>
              </a:rPr>
              <a:t>listen 443 ssl;</a:t>
            </a:r>
            <a:r>
              <a:rPr sz="1800" b="0">
                <a:solidFill>
                  <a:srgbClr val="1F242E"/>
                </a:solidFill>
                <a:latin typeface="Segoe UI" panose="020B0502040204020203"/>
              </a:rPr>
              <a:t> cùng đường dẫn chứng chỉ.</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Cảnh báo trình duyệt: Hiện thông báo đỏ </a:t>
            </a:r>
            <a:r>
              <a:rPr sz="1800" b="1">
                <a:solidFill>
                  <a:srgbClr val="1F242E"/>
                </a:solidFill>
                <a:latin typeface="Segoe UI" panose="020B0502040204020203"/>
              </a:rPr>
              <a:t>"Your connection is not private"</a:t>
            </a:r>
            <a:r>
              <a:rPr sz="1800" b="0">
                <a:solidFill>
                  <a:srgbClr val="1F242E"/>
                </a:solidFill>
                <a:latin typeface="Segoe UI" panose="020B0502040204020203"/>
              </a:rPr>
              <a:t> do thiếu Root CA tin cậy.</a:t>
            </a:r>
            <a:endParaRPr sz="1800" b="0">
              <a:solidFill>
                <a:srgbClr val="1F242E"/>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Giải pháp thực tế (Production): Sử dụng </a:t>
            </a:r>
            <a:r>
              <a:rPr sz="1800" b="1">
                <a:solidFill>
                  <a:srgbClr val="1F242E"/>
                </a:solidFill>
                <a:latin typeface="Segoe UI" panose="020B0502040204020203"/>
              </a:rPr>
              <a:t>Certbot</a:t>
            </a:r>
            <a:r>
              <a:rPr sz="1800" b="0">
                <a:solidFill>
                  <a:srgbClr val="1F242E"/>
                </a:solidFill>
                <a:latin typeface="Segoe UI" panose="020B0502040204020203"/>
              </a:rPr>
              <a:t> tích hợp tự động với </a:t>
            </a:r>
            <a:r>
              <a:rPr sz="1800" b="1">
                <a:solidFill>
                  <a:srgbClr val="1F242E"/>
                </a:solidFill>
                <a:latin typeface="Segoe UI" panose="020B0502040204020203"/>
              </a:rPr>
              <a:t>Let's Encrypt</a:t>
            </a:r>
            <a:r>
              <a:rPr sz="1800" b="0">
                <a:solidFill>
                  <a:srgbClr val="1F242E"/>
                </a:solidFill>
                <a:latin typeface="Segoe UI" panose="020B0502040204020203"/>
              </a:rPr>
              <a:t> để cấp phát SSL chuẩn quốc tế.</a:t>
            </a:r>
            <a:endParaRPr sz="1800" b="0">
              <a:solidFill>
                <a:srgbClr val="1F242E"/>
              </a:solidFill>
              <a:latin typeface="Segoe UI" panose="020B0502040204020203"/>
            </a:endParaRPr>
          </a:p>
        </p:txBody>
      </p:sp>
      <p:pic>
        <p:nvPicPr>
          <p:cNvPr id="10" name="Hình ảnh 9"/>
          <p:cNvPicPr>
            <a:picLocks noChangeAspect="1"/>
          </p:cNvPicPr>
          <p:nvPr/>
        </p:nvPicPr>
        <p:blipFill>
          <a:blip r:embed="rId2"/>
          <a:stretch>
            <a:fillRect/>
          </a:stretch>
        </p:blipFill>
        <p:spPr>
          <a:xfrm>
            <a:off x="5795645" y="2211070"/>
            <a:ext cx="5767705" cy="3277870"/>
          </a:xfrm>
          <a:prstGeom prst="rect">
            <a:avLst/>
          </a:prstGeom>
        </p:spPr>
      </p:pic>
      <p:pic>
        <p:nvPicPr>
          <p:cNvPr id="11" name="Hình ảnh 10"/>
          <p:cNvPicPr>
            <a:picLocks noChangeAspect="1"/>
          </p:cNvPicPr>
          <p:nvPr/>
        </p:nvPicPr>
        <p:blipFill>
          <a:blip r:embed="rId3"/>
          <a:stretch>
            <a:fillRect/>
          </a:stretch>
        </p:blipFill>
        <p:spPr>
          <a:xfrm>
            <a:off x="6096000" y="1696085"/>
            <a:ext cx="3293110" cy="4083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32/35</a:t>
            </a:r>
          </a:p>
        </p:txBody>
      </p:sp>
      <p:sp>
        <p:nvSpPr>
          <p:cNvPr id="8" name="TextBox 7"/>
          <p:cNvSpPr txBox="1"/>
          <p:nvPr/>
        </p:nvSpPr>
        <p:spPr>
          <a:xfrm>
            <a:off x="1000000" y="2500000"/>
            <a:ext cx="10191365" cy="2000000"/>
          </a:xfrm>
          <a:prstGeom prst="rect">
            <a:avLst/>
          </a:prstGeom>
          <a:noFill/>
        </p:spPr>
        <p:txBody>
          <a:bodyPr wrap="square" lIns="0" tIns="0" rIns="0" bIns="0">
            <a:spAutoFit/>
          </a:bodyPr>
          <a:lstStyle/>
          <a:p>
            <a:pPr algn="ctr">
              <a:defRPr sz="3200" b="1">
                <a:solidFill>
                  <a:srgbClr val="880C10"/>
                </a:solidFill>
                <a:latin typeface="Segoe UI" panose="020B0502040204020203"/>
              </a:defRPr>
            </a:pPr>
            <a:r>
              <a:t>PHẦN 5: TỔNG KẾT &amp; ĐÁNH GIÁ KIẾN TRÚC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33/35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1. Toàn cảnh Kiến trúc Luma Store sau Tối ưu</a:t>
            </a:r>
          </a:p>
        </p:txBody>
      </p:sp>
      <p:sp>
        <p:nvSpPr>
          <p:cNvPr id="9" name="TextBox 8"/>
          <p:cNvSpPr txBox="1"/>
          <p:nvPr/>
        </p:nvSpPr>
        <p:spPr>
          <a:xfrm>
            <a:off x="457200" y="1299845"/>
            <a:ext cx="10607675" cy="2205355"/>
          </a:xfrm>
          <a:prstGeom prst="rect">
            <a:avLst/>
          </a:prstGeom>
          <a:noFill/>
        </p:spPr>
        <p:txBody>
          <a:bodyPr wrap="square" lIns="0" tIns="0" rIns="0" bIns="0">
            <a:spAutoFit/>
          </a:bodyPr>
          <a:lstStyle/>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NGINX đóng vai trò </a:t>
            </a:r>
            <a:r>
              <a:rPr sz="1800" b="1">
                <a:solidFill>
                  <a:srgbClr val="1F242E"/>
                </a:solidFill>
                <a:latin typeface="Segoe UI" panose="020B0502040204020203"/>
              </a:rPr>
              <a:t>Cửa ngõ Đa năng (All-in-one Gateway)</a:t>
            </a:r>
            <a:r>
              <a:rPr sz="1800" b="0">
                <a:solidFill>
                  <a:srgbClr val="1F242E"/>
                </a:solidFill>
                <a:latin typeface="Segoe UI" panose="020B0502040204020203"/>
              </a:rPr>
              <a:t>:</a:t>
            </a:r>
            <a:endParaRPr sz="1800" b="0">
              <a:solidFill>
                <a:srgbClr val="1F242E"/>
              </a:solidFill>
              <a:latin typeface="Segoe UI" panose="020B0502040204020203"/>
            </a:endParaRPr>
          </a:p>
          <a:p>
            <a:pPr>
              <a:spcBef>
                <a:spcPts val="200"/>
              </a:spcBef>
              <a:spcAft>
                <a:spcPts val="1400"/>
              </a:spcAft>
            </a:pPr>
            <a:r>
              <a:rPr sz="1800" b="0">
                <a:solidFill>
                  <a:srgbClr val="475569"/>
                </a:solidFill>
                <a:latin typeface="Segoe UI" panose="020B0502040204020203"/>
              </a:rPr>
              <a:t>        ▸  </a:t>
            </a:r>
            <a:r>
              <a:rPr sz="1800" b="0">
                <a:solidFill>
                  <a:srgbClr val="475569"/>
                </a:solidFill>
                <a:latin typeface="Segoe UI" panose="020B0502040204020203"/>
              </a:rPr>
              <a:t>Cửa ngõ bảo mật HTTPS (SSL Termination).</a:t>
            </a:r>
            <a:endParaRPr sz="1800" b="0">
              <a:solidFill>
                <a:srgbClr val="475569"/>
              </a:solidFill>
              <a:latin typeface="Segoe UI" panose="020B0502040204020203"/>
            </a:endParaRPr>
          </a:p>
          <a:p>
            <a:pPr>
              <a:spcBef>
                <a:spcPts val="200"/>
              </a:spcBef>
              <a:spcAft>
                <a:spcPts val="1400"/>
              </a:spcAft>
            </a:pPr>
            <a:r>
              <a:rPr sz="1800" b="0">
                <a:solidFill>
                  <a:srgbClr val="475569"/>
                </a:solidFill>
                <a:latin typeface="Segoe UI" panose="020B0502040204020203"/>
              </a:rPr>
              <a:t>        ▸  </a:t>
            </a:r>
            <a:r>
              <a:rPr sz="1800" b="0">
                <a:solidFill>
                  <a:srgbClr val="475569"/>
                </a:solidFill>
                <a:latin typeface="Segoe UI" panose="020B0502040204020203"/>
              </a:rPr>
              <a:t>Máy chủ phân phát tĩnh siêu tốc (Web Server).</a:t>
            </a:r>
            <a:endParaRPr sz="1800" b="0">
              <a:solidFill>
                <a:srgbClr val="475569"/>
              </a:solidFill>
              <a:latin typeface="Segoe UI" panose="020B0502040204020203"/>
            </a:endParaRPr>
          </a:p>
          <a:p>
            <a:pPr>
              <a:spcBef>
                <a:spcPts val="200"/>
              </a:spcBef>
              <a:spcAft>
                <a:spcPts val="1400"/>
              </a:spcAft>
            </a:pPr>
            <a:r>
              <a:rPr sz="1800" b="0">
                <a:solidFill>
                  <a:srgbClr val="475569"/>
                </a:solidFill>
                <a:latin typeface="Segoe UI" panose="020B0502040204020203"/>
              </a:rPr>
              <a:t>        ▸  </a:t>
            </a:r>
            <a:r>
              <a:rPr sz="1800" b="0">
                <a:solidFill>
                  <a:srgbClr val="475569"/>
                </a:solidFill>
                <a:latin typeface="Segoe UI" panose="020B0502040204020203"/>
              </a:rPr>
              <a:t>Bộ điều phối phân tải thông minh (Reverse Proxy &amp; Upstream Load Balancer).</a:t>
            </a:r>
            <a:endParaRPr sz="1800" b="0">
              <a:solidFill>
                <a:srgbClr val="475569"/>
              </a:solidFill>
              <a:latin typeface="Segoe UI" panose="020B0502040204020203"/>
            </a:endParaRPr>
          </a:p>
          <a:p>
            <a:pPr>
              <a:spcBef>
                <a:spcPts val="200"/>
              </a:spcBef>
              <a:spcAft>
                <a:spcPts val="1400"/>
              </a:spcAft>
            </a:pPr>
            <a:r>
              <a:rPr sz="1800" b="1">
                <a:solidFill>
                  <a:srgbClr val="880C10"/>
                </a:solidFill>
                <a:latin typeface="Segoe UI" panose="020B0502040204020203"/>
              </a:rPr>
              <a:t>•  </a:t>
            </a:r>
            <a:r>
              <a:rPr sz="1800" b="0">
                <a:solidFill>
                  <a:srgbClr val="1F242E"/>
                </a:solidFill>
                <a:latin typeface="Segoe UI" panose="020B0502040204020203"/>
              </a:rPr>
              <a:t>Hệ thống an toàn, khép kín, sẵn sàng mở rộng (Scalable).</a:t>
            </a:r>
            <a:endParaRPr sz="1800" b="0">
              <a:solidFill>
                <a:srgbClr val="1F242E"/>
              </a:solidFill>
              <a:latin typeface="Segoe UI" panose="020B0502040204020203"/>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34/35</a:t>
            </a:r>
          </a:p>
        </p:txBody>
      </p:sp>
      <p:sp>
        <p:nvSpPr>
          <p:cNvPr id="8" name="TextBox 7"/>
          <p:cNvSpPr txBox="1"/>
          <p:nvPr/>
        </p:nvSpPr>
        <p:spPr>
          <a:xfrm>
            <a:off x="457200" y="150000"/>
            <a:ext cx="10400000" cy="800000"/>
          </a:xfrm>
          <a:prstGeom prst="rect">
            <a:avLst/>
          </a:prstGeom>
          <a:noFill/>
        </p:spPr>
        <p:txBody>
          <a:bodyPr wrap="square" lIns="0" tIns="0" rIns="0" bIns="0">
            <a:spAutoFit/>
          </a:bodyPr>
          <a:lstStyle/>
          <a:p>
            <a:pPr>
              <a:defRPr sz="2400" b="1">
                <a:solidFill>
                  <a:srgbClr val="FFFFFF"/>
                </a:solidFill>
                <a:latin typeface="Segoe UI" panose="020B0502040204020203"/>
              </a:defRPr>
            </a:pPr>
            <a:r>
              <a:t>2. So sánh Trước và Sau khi triển khai NGINX</a:t>
            </a:r>
          </a:p>
        </p:txBody>
      </p:sp>
      <p:graphicFrame>
        <p:nvGraphicFramePr>
          <p:cNvPr id="9" name="Table 8"/>
          <p:cNvGraphicFramePr>
            <a:graphicFrameLocks noGrp="1"/>
          </p:cNvGraphicFramePr>
          <p:nvPr/>
        </p:nvGraphicFramePr>
        <p:xfrm>
          <a:off x="457200" y="1300000"/>
          <a:ext cx="11277600" cy="4600000"/>
        </p:xfrm>
        <a:graphic>
          <a:graphicData uri="http://schemas.openxmlformats.org/drawingml/2006/table">
            <a:tbl>
              <a:tblPr firstRow="1" bandRow="1">
                <a:tableStyleId>{5C22544A-7EE6-4342-B048-85BDC9FD1C3A}</a:tableStyleId>
              </a:tblPr>
              <a:tblGrid>
                <a:gridCol w="2277600"/>
                <a:gridCol w="4500000"/>
                <a:gridCol w="4500000"/>
              </a:tblGrid>
              <a:tr h="766666">
                <a:tc>
                  <a:txBody>
                    <a:bodyPr/>
                    <a:lstStyle/>
                    <a:p>
                      <a:pPr algn="ctr">
                        <a:defRPr sz="1400" b="1">
                          <a:solidFill>
                            <a:srgbClr val="FFFFFF"/>
                          </a:solidFill>
                          <a:latin typeface="Segoe UI" panose="020B0502040204020203"/>
                        </a:defRPr>
                      </a:pPr>
                      <a:r>
                        <a:t>Tiêu chí</a:t>
                      </a:r>
                    </a:p>
                  </a:txBody>
                  <a:tcPr anchor="ctr">
                    <a:solidFill>
                      <a:srgbClr val="880C10"/>
                    </a:solidFill>
                  </a:tcPr>
                </a:tc>
                <a:tc>
                  <a:txBody>
                    <a:bodyPr/>
                    <a:lstStyle/>
                    <a:p>
                      <a:pPr algn="ctr">
                        <a:defRPr sz="1400" b="1">
                          <a:solidFill>
                            <a:srgbClr val="FFFFFF"/>
                          </a:solidFill>
                          <a:latin typeface="Segoe UI" panose="020B0502040204020203"/>
                        </a:defRPr>
                      </a:pPr>
                      <a:r>
                        <a:t>Trước khi dùng NGINX</a:t>
                      </a:r>
                    </a:p>
                  </a:txBody>
                  <a:tcPr anchor="ctr">
                    <a:solidFill>
                      <a:srgbClr val="880C10"/>
                    </a:solidFill>
                  </a:tcPr>
                </a:tc>
                <a:tc>
                  <a:txBody>
                    <a:bodyPr/>
                    <a:lstStyle/>
                    <a:p>
                      <a:pPr algn="ctr">
                        <a:defRPr sz="1400" b="1">
                          <a:solidFill>
                            <a:srgbClr val="FFFFFF"/>
                          </a:solidFill>
                          <a:latin typeface="Segoe UI" panose="020B0502040204020203"/>
                        </a:defRPr>
                      </a:pPr>
                      <a:r>
                        <a:t>Sau khi triển khai NGINX</a:t>
                      </a:r>
                    </a:p>
                  </a:txBody>
                  <a:tcPr anchor="ctr">
                    <a:solidFill>
                      <a:srgbClr val="880C10"/>
                    </a:solidFill>
                  </a:tcPr>
                </a:tc>
              </a:tr>
              <a:tr h="766666">
                <a:tc>
                  <a:txBody>
                    <a:bodyPr/>
                    <a:lstStyle/>
                    <a:p>
                      <a:pPr algn="ctr">
                        <a:defRPr sz="1300" b="1">
                          <a:solidFill>
                            <a:srgbClr val="1F242E"/>
                          </a:solidFill>
                          <a:latin typeface="Segoe UI" panose="020B0502040204020203"/>
                        </a:defRPr>
                      </a:pPr>
                      <a:r>
                        <a:t>CORS Policy</a:t>
                      </a:r>
                    </a:p>
                  </a:txBody>
                  <a:tcPr anchor="ctr">
                    <a:solidFill>
                      <a:srgbClr val="F1F5F9"/>
                    </a:solidFill>
                  </a:tcPr>
                </a:tc>
                <a:tc>
                  <a:txBody>
                    <a:bodyPr/>
                    <a:lstStyle/>
                    <a:p>
                      <a:pPr algn="ctr">
                        <a:defRPr sz="1300">
                          <a:solidFill>
                            <a:srgbClr val="991B1B"/>
                          </a:solidFill>
                          <a:latin typeface="Segoe UI" panose="020B0502040204020203"/>
                        </a:defRPr>
                      </a:pPr>
                      <a:r>
                        <a:t>Lỗi liên tục khi gọi khác Port</a:t>
                      </a:r>
                      <a:br/>
                      <a:r>
                        <a:t>(SOP chặn kết nối trình duyệt)</a:t>
                      </a:r>
                    </a:p>
                  </a:txBody>
                  <a:tcPr anchor="ctr">
                    <a:solidFill>
                      <a:srgbClr val="FFFFFF"/>
                    </a:solidFill>
                  </a:tcPr>
                </a:tc>
                <a:tc>
                  <a:txBody>
                    <a:bodyPr/>
                    <a:lstStyle/>
                    <a:p>
                      <a:pPr algn="ctr">
                        <a:defRPr sz="1300" b="1">
                          <a:solidFill>
                            <a:srgbClr val="166534"/>
                          </a:solidFill>
                          <a:latin typeface="Segoe UI" panose="020B0502040204020203"/>
                        </a:defRPr>
                      </a:pPr>
                      <a:r>
                        <a:t>Triệt tiêu hoàn toàn lỗi CORS</a:t>
                      </a:r>
                      <a:br/>
                      <a:r>
                        <a:t>(Cùng chung Origin Port 80)</a:t>
                      </a:r>
                    </a:p>
                  </a:txBody>
                  <a:tcPr anchor="ctr">
                    <a:solidFill>
                      <a:srgbClr val="F0FDF4"/>
                    </a:solidFill>
                  </a:tcPr>
                </a:tc>
              </a:tr>
              <a:tr h="766666">
                <a:tc>
                  <a:txBody>
                    <a:bodyPr/>
                    <a:lstStyle/>
                    <a:p>
                      <a:pPr algn="ctr">
                        <a:defRPr sz="1300" b="1">
                          <a:solidFill>
                            <a:srgbClr val="1F242E"/>
                          </a:solidFill>
                          <a:latin typeface="Segoe UI" panose="020B0502040204020203"/>
                        </a:defRPr>
                      </a:pPr>
                      <a:r>
                        <a:t>Khả năng chịu tải</a:t>
                      </a:r>
                    </a:p>
                  </a:txBody>
                  <a:tcPr anchor="ctr">
                    <a:solidFill>
                      <a:srgbClr val="F1F5F9"/>
                    </a:solidFill>
                  </a:tcPr>
                </a:tc>
                <a:tc>
                  <a:txBody>
                    <a:bodyPr/>
                    <a:lstStyle/>
                    <a:p>
                      <a:pPr algn="ctr">
                        <a:defRPr sz="1300">
                          <a:solidFill>
                            <a:srgbClr val="991B1B"/>
                          </a:solidFill>
                          <a:latin typeface="Segoe UI" panose="020B0502040204020203"/>
                        </a:defRPr>
                      </a:pPr>
                      <a:r>
                        <a:t>Dễ quá tải, sập toàn bộ hệ thống</a:t>
                      </a:r>
                      <a:br/>
                      <a:r>
                        <a:t>(Single Point of Failure)</a:t>
                      </a:r>
                    </a:p>
                  </a:txBody>
                  <a:tcPr anchor="ctr">
                    <a:solidFill>
                      <a:srgbClr val="FFFFFF"/>
                    </a:solidFill>
                  </a:tcPr>
                </a:tc>
                <a:tc>
                  <a:txBody>
                    <a:bodyPr/>
                    <a:lstStyle/>
                    <a:p>
                      <a:pPr algn="ctr">
                        <a:defRPr sz="1300" b="1">
                          <a:solidFill>
                            <a:srgbClr val="166534"/>
                          </a:solidFill>
                          <a:latin typeface="Segoe UI" panose="020B0502040204020203"/>
                        </a:defRPr>
                      </a:pPr>
                      <a:r>
                        <a:t>Cân bằng tải linh hoạt</a:t>
                      </a:r>
                      <a:br/>
                      <a:r>
                        <a:t>(Chia tải đều Round-Robin cho các Node)</a:t>
                      </a:r>
                    </a:p>
                  </a:txBody>
                  <a:tcPr anchor="ctr">
                    <a:solidFill>
                      <a:srgbClr val="F0FDF4"/>
                    </a:solidFill>
                  </a:tcPr>
                </a:tc>
              </a:tr>
              <a:tr h="766666">
                <a:tc>
                  <a:txBody>
                    <a:bodyPr/>
                    <a:lstStyle/>
                    <a:p>
                      <a:pPr algn="ctr">
                        <a:defRPr sz="1300" b="1">
                          <a:solidFill>
                            <a:srgbClr val="1F242E"/>
                          </a:solidFill>
                          <a:latin typeface="Segoe UI" panose="020B0502040204020203"/>
                        </a:defRPr>
                      </a:pPr>
                      <a:r>
                        <a:t>Bảo mật mạng</a:t>
                      </a:r>
                    </a:p>
                  </a:txBody>
                  <a:tcPr anchor="ctr">
                    <a:solidFill>
                      <a:srgbClr val="F1F5F9"/>
                    </a:solidFill>
                  </a:tcPr>
                </a:tc>
                <a:tc>
                  <a:txBody>
                    <a:bodyPr/>
                    <a:lstStyle/>
                    <a:p>
                      <a:pPr algn="ctr">
                        <a:defRPr sz="1300">
                          <a:solidFill>
                            <a:srgbClr val="991B1B"/>
                          </a:solidFill>
                          <a:latin typeface="Segoe UI" panose="020B0502040204020203"/>
                        </a:defRPr>
                      </a:pPr>
                      <a:r>
                        <a:t>Lộ hàng loạt cổng nội bộ (3000, 3001)</a:t>
                      </a:r>
                      <a:br/>
                      <a:r>
                        <a:t>Bề mặt tấn công lớn</a:t>
                      </a:r>
                    </a:p>
                  </a:txBody>
                  <a:tcPr anchor="ctr">
                    <a:solidFill>
                      <a:srgbClr val="FFFFFF"/>
                    </a:solidFill>
                  </a:tcPr>
                </a:tc>
                <a:tc>
                  <a:txBody>
                    <a:bodyPr/>
                    <a:lstStyle/>
                    <a:p>
                      <a:pPr algn="ctr">
                        <a:defRPr sz="1300" b="1">
                          <a:solidFill>
                            <a:srgbClr val="166534"/>
                          </a:solidFill>
                          <a:latin typeface="Segoe UI" panose="020B0502040204020203"/>
                        </a:defRPr>
                      </a:pPr>
                      <a:r>
                        <a:t>Đóng kín toàn bộ cổng nội bộ</a:t>
                      </a:r>
                      <a:br/>
                      <a:r>
                        <a:t>Chỉ mở duy nhất cổng chuẩn 80 / 443</a:t>
                      </a:r>
                    </a:p>
                  </a:txBody>
                  <a:tcPr anchor="ctr">
                    <a:solidFill>
                      <a:srgbClr val="F0FDF4"/>
                    </a:solidFill>
                  </a:tcPr>
                </a:tc>
              </a:tr>
              <a:tr h="766666">
                <a:tc>
                  <a:txBody>
                    <a:bodyPr/>
                    <a:lstStyle/>
                    <a:p>
                      <a:pPr algn="ctr">
                        <a:defRPr sz="1300" b="1">
                          <a:solidFill>
                            <a:srgbClr val="1F242E"/>
                          </a:solidFill>
                          <a:latin typeface="Segoe UI" panose="020B0502040204020203"/>
                        </a:defRPr>
                      </a:pPr>
                      <a:r>
                        <a:t>Mã hóa đường truyền</a:t>
                      </a:r>
                    </a:p>
                  </a:txBody>
                  <a:tcPr anchor="ctr">
                    <a:solidFill>
                      <a:srgbClr val="F1F5F9"/>
                    </a:solidFill>
                  </a:tcPr>
                </a:tc>
                <a:tc>
                  <a:txBody>
                    <a:bodyPr/>
                    <a:lstStyle/>
                    <a:p>
                      <a:pPr algn="ctr">
                        <a:defRPr sz="1300">
                          <a:solidFill>
                            <a:srgbClr val="991B1B"/>
                          </a:solidFill>
                          <a:latin typeface="Segoe UI" panose="020B0502040204020203"/>
                        </a:defRPr>
                      </a:pPr>
                      <a:r>
                        <a:t>HTTP văn bản thô (Port 80)</a:t>
                      </a:r>
                      <a:br/>
                      <a:r>
                        <a:t>Nguy cơ bị nghe lén &amp; giả mạo</a:t>
                      </a:r>
                    </a:p>
                  </a:txBody>
                  <a:tcPr anchor="ctr">
                    <a:solidFill>
                      <a:srgbClr val="FFFFFF"/>
                    </a:solidFill>
                  </a:tcPr>
                </a:tc>
                <a:tc>
                  <a:txBody>
                    <a:bodyPr/>
                    <a:lstStyle/>
                    <a:p>
                      <a:pPr algn="ctr">
                        <a:defRPr sz="1300" b="1">
                          <a:solidFill>
                            <a:srgbClr val="166534"/>
                          </a:solidFill>
                          <a:latin typeface="Segoe UI" panose="020B0502040204020203"/>
                        </a:defRPr>
                      </a:pPr>
                      <a:r>
                        <a:t>Mã hóa HTTPS tiêu chuẩn (Port 443)</a:t>
                      </a:r>
                      <a:br/>
                      <a:r>
                        <a:t>Bảo mật đường truyền SSL/TLS</a:t>
                      </a:r>
                    </a:p>
                  </a:txBody>
                  <a:tcPr anchor="ctr">
                    <a:solidFill>
                      <a:srgbClr val="F0FDF4"/>
                    </a:solidFill>
                  </a:tcPr>
                </a:tc>
              </a:tr>
              <a:tr h="766670">
                <a:tc>
                  <a:txBody>
                    <a:bodyPr/>
                    <a:lstStyle/>
                    <a:p>
                      <a:pPr algn="ctr">
                        <a:defRPr sz="1300" b="1">
                          <a:solidFill>
                            <a:srgbClr val="1F242E"/>
                          </a:solidFill>
                          <a:latin typeface="Segoe UI" panose="020B0502040204020203"/>
                        </a:defRPr>
                      </a:pPr>
                      <a:r>
                        <a:t>Phục vụ Static Files</a:t>
                      </a:r>
                    </a:p>
                  </a:txBody>
                  <a:tcPr anchor="ctr">
                    <a:solidFill>
                      <a:srgbClr val="F1F5F9"/>
                    </a:solidFill>
                  </a:tcPr>
                </a:tc>
                <a:tc>
                  <a:txBody>
                    <a:bodyPr/>
                    <a:lstStyle/>
                    <a:p>
                      <a:pPr algn="ctr">
                        <a:defRPr sz="1300">
                          <a:solidFill>
                            <a:srgbClr val="991B1B"/>
                          </a:solidFill>
                          <a:latin typeface="Segoe UI" panose="020B0502040204020203"/>
                        </a:defRPr>
                      </a:pPr>
                      <a:r>
                        <a:t>Node.js runtime gánh file tĩnh</a:t>
                      </a:r>
                      <a:br/>
                      <a:r>
                        <a:t>(Tốn nhiều RAM &amp; CPU)</a:t>
                      </a:r>
                    </a:p>
                  </a:txBody>
                  <a:tcPr anchor="ctr">
                    <a:solidFill>
                      <a:srgbClr val="FFFFFF"/>
                    </a:solidFill>
                  </a:tcPr>
                </a:tc>
                <a:tc>
                  <a:txBody>
                    <a:bodyPr/>
                    <a:lstStyle/>
                    <a:p>
                      <a:pPr algn="ctr">
                        <a:defRPr sz="1300" b="1">
                          <a:solidFill>
                            <a:srgbClr val="166534"/>
                          </a:solidFill>
                          <a:latin typeface="Segoe UI" panose="020B0502040204020203"/>
                        </a:defRPr>
                      </a:pPr>
                      <a:r>
                        <a:t>NGINX phục vụ trực tiếp siêu tốc</a:t>
                      </a:r>
                      <a:br/>
                      <a:r>
                        <a:t>(Cơ chế Zero-copy sendfile của Linux)</a:t>
                      </a:r>
                    </a:p>
                  </a:txBody>
                  <a:tcPr anchor="ctr">
                    <a:solidFill>
                      <a:srgbClr val="F0FDF4"/>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51560"/>
          </a:xfrm>
          <a:prstGeom prst="rect">
            <a:avLst/>
          </a:prstGeom>
          <a:solidFill>
            <a:srgbClr val="88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10972800" y="0"/>
            <a:ext cx="1218895" cy="822960"/>
          </a:xfrm>
          <a:prstGeom prst="rtTriangle">
            <a:avLst/>
          </a:prstGeom>
          <a:solidFill>
            <a:srgbClr val="69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 ĐH Xây Dựng Hà Nội - NUCE.png"/>
          <p:cNvPicPr>
            <a:picLocks noChangeAspect="1"/>
          </p:cNvPicPr>
          <p:nvPr/>
        </p:nvPicPr>
        <p:blipFill>
          <a:blip r:embed="rId1"/>
          <a:stretch>
            <a:fillRect/>
          </a:stretch>
        </p:blipFill>
        <p:spPr>
          <a:xfrm>
            <a:off x="457200" y="6144768"/>
            <a:ext cx="457200" cy="457200"/>
          </a:xfrm>
          <a:prstGeom prst="rect">
            <a:avLst/>
          </a:prstGeom>
        </p:spPr>
      </p:pic>
      <p:sp>
        <p:nvSpPr>
          <p:cNvPr id="5" name="TextBox 4"/>
          <p:cNvSpPr txBox="1"/>
          <p:nvPr/>
        </p:nvSpPr>
        <p:spPr>
          <a:xfrm>
            <a:off x="987552" y="6144768"/>
            <a:ext cx="3000000" cy="457200"/>
          </a:xfrm>
          <a:prstGeom prst="rect">
            <a:avLst/>
          </a:prstGeom>
          <a:noFill/>
        </p:spPr>
        <p:txBody>
          <a:bodyPr wrap="square" lIns="0" tIns="0" rIns="0" bIns="0">
            <a:spAutoFit/>
          </a:bodyPr>
          <a:lstStyle/>
          <a:p>
            <a:pPr>
              <a:defRPr sz="1050" b="1">
                <a:solidFill>
                  <a:srgbClr val="1F242E"/>
                </a:solidFill>
                <a:latin typeface="Segoe UI" panose="020B0502040204020203"/>
              </a:defRPr>
            </a:pPr>
            <a:r>
              <a:t>TRƯỜNG ĐẠI HỌC XÂY DỰNG HÀ NỘI</a:t>
            </a:r>
          </a:p>
          <a:p>
            <a:pPr>
              <a:defRPr sz="850">
                <a:solidFill>
                  <a:srgbClr val="475569"/>
                </a:solidFill>
                <a:latin typeface="Segoe UI" panose="020B0502040204020203"/>
              </a:defRPr>
            </a:pPr>
            <a:r>
              <a:t>Hanoi University of Civil Engineering</a:t>
            </a:r>
          </a:p>
        </p:txBody>
      </p:sp>
      <p:sp>
        <p:nvSpPr>
          <p:cNvPr id="6" name="Rectangle 5"/>
          <p:cNvSpPr/>
          <p:nvPr/>
        </p:nvSpPr>
        <p:spPr>
          <a:xfrm>
            <a:off x="4100000" y="6272784"/>
            <a:ext cx="7500000" cy="300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0000" y="6380000"/>
            <a:ext cx="3100000" cy="320000"/>
          </a:xfrm>
          <a:prstGeom prst="rect">
            <a:avLst/>
          </a:prstGeom>
          <a:noFill/>
        </p:spPr>
        <p:txBody>
          <a:bodyPr wrap="square" lIns="0" tIns="0" rIns="0" bIns="0">
            <a:spAutoFit/>
          </a:bodyPr>
          <a:lstStyle/>
          <a:p>
            <a:pPr algn="r">
              <a:defRPr sz="950">
                <a:solidFill>
                  <a:srgbClr val="475569"/>
                </a:solidFill>
                <a:latin typeface="Segoe UI" panose="020B0502040204020203"/>
              </a:defRPr>
            </a:pPr>
            <a:r>
              <a:t>Nhóm 7  |  Phát triển UD Máy chủ Nâng cao  |  Trang 35/35</a:t>
            </a:r>
          </a:p>
        </p:txBody>
      </p:sp>
      <p:sp>
        <p:nvSpPr>
          <p:cNvPr id="8" name="TextBox 7"/>
          <p:cNvSpPr txBox="1"/>
          <p:nvPr/>
        </p:nvSpPr>
        <p:spPr>
          <a:xfrm>
            <a:off x="1000000" y="2500000"/>
            <a:ext cx="10191365" cy="1800000"/>
          </a:xfrm>
          <a:prstGeom prst="rect">
            <a:avLst/>
          </a:prstGeom>
          <a:noFill/>
        </p:spPr>
        <p:txBody>
          <a:bodyPr wrap="square" lIns="0" tIns="0" rIns="0" bIns="0">
            <a:spAutoFit/>
          </a:bodyPr>
          <a:lstStyle/>
          <a:p>
            <a:pPr algn="ctr">
              <a:defRPr sz="3600" b="1">
                <a:solidFill>
                  <a:srgbClr val="880C10"/>
                </a:solidFill>
                <a:latin typeface="Segoe UI" panose="020B0502040204020203"/>
              </a:defRPr>
            </a:pPr>
            <a:r>
              <a:t>CẢM ƠN THẦY VÀ CÁC BẠN ĐÃ LẮNG NGHE!</a:t>
            </a:r>
          </a:p>
          <a:p>
            <a:pPr algn="ctr">
              <a:spcBef>
                <a:spcPts val="1600"/>
              </a:spcBef>
              <a:defRPr sz="1800">
                <a:solidFill>
                  <a:srgbClr val="475569"/>
                </a:solidFill>
                <a:latin typeface="Segoe UI" panose="020B0502040204020203"/>
              </a:defRPr>
            </a:pPr>
            <a:r>
              <a:t>Nhóm 7 xin nhận các câu hỏi phản biện &amp; đóng góp ý kiến.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15414</Words>
  <Application>WPS Presentation</Application>
  <PresentationFormat>On-screen Show (4:3)</PresentationFormat>
  <Paragraphs>460</Paragraphs>
  <Slides>35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Arial</vt:lpstr>
      <vt:lpstr>SimSun</vt:lpstr>
      <vt:lpstr>Wingdings</vt:lpstr>
      <vt:lpstr>Arial</vt:lpstr>
      <vt:lpstr>Segoe UI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Manh Nguyen Duc</cp:lastModifiedBy>
  <cp:revision>2</cp:revision>
  <dcterms:created xsi:type="dcterms:W3CDTF">2013-01-27T09:14:00Z</dcterms:created>
  <dcterms:modified xsi:type="dcterms:W3CDTF">2026-10-10T09:24:55Z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1066-12.1.0.28485</vt:lpwstr>
  </property>
  <property fmtid="{D5CDD505-2E9C-101B-9397-08002B2CF9AE}" pid="3" name="ICV">
    <vt:lpwstr>619751534D04477A95B6DCD32BD7A8FD_12</vt:lpwstr>
  </property>
</Properties>
</file>